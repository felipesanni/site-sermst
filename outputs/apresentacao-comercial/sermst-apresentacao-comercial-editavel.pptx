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0bbf5366f84ee0" /><Relationship Type="http://schemas.openxmlformats.org/officeDocument/2006/relationships/extended-properties" Target="/docProps/app.xml" Id="Re005950a668f43a7" /><Relationship Type="http://schemas.openxmlformats.org/officeDocument/2006/relationships/officeDocument" Target="/ppt/presentation.xml" Id="R82ca97a351e447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867807b7da42e7"/>
  </p:sldMasterIdLst>
  <p:notesMasterIdLst>
    <p:notesMasterId xmlns:r="http://schemas.openxmlformats.org/officeDocument/2006/relationships" r:id="Rcf9cde8c3b234ece"/>
  </p:notesMasterIdLst>
  <p:sldIdLst>
    <p:sldId xmlns:r="http://schemas.openxmlformats.org/officeDocument/2006/relationships" id="256" r:id="Rb571aceb51104c19"/>
    <p:sldId xmlns:r="http://schemas.openxmlformats.org/officeDocument/2006/relationships" id="257" r:id="R38d7fd25e5e04e39"/>
    <p:sldId xmlns:r="http://schemas.openxmlformats.org/officeDocument/2006/relationships" id="258" r:id="R9b69d1d2818d4e26"/>
    <p:sldId xmlns:r="http://schemas.openxmlformats.org/officeDocument/2006/relationships" id="259" r:id="Rd480d98f0689482e"/>
    <p:sldId xmlns:r="http://schemas.openxmlformats.org/officeDocument/2006/relationships" id="260" r:id="R56a227ec85994f47"/>
    <p:sldId xmlns:r="http://schemas.openxmlformats.org/officeDocument/2006/relationships" id="261" r:id="R8040951429aa453c"/>
    <p:sldId xmlns:r="http://schemas.openxmlformats.org/officeDocument/2006/relationships" id="262" r:id="R324b38229f584c14"/>
    <p:sldId xmlns:r="http://schemas.openxmlformats.org/officeDocument/2006/relationships" id="263" r:id="R40afbc8c6c6745cc"/>
    <p:sldId xmlns:r="http://schemas.openxmlformats.org/officeDocument/2006/relationships" id="264" r:id="R6a96127665ce4676"/>
    <p:sldId xmlns:r="http://schemas.openxmlformats.org/officeDocument/2006/relationships" id="265" r:id="Rd11be5e325674b21"/>
    <p:sldId xmlns:r="http://schemas.openxmlformats.org/officeDocument/2006/relationships" id="266" r:id="R89210c27d1f84863"/>
    <p:sldId xmlns:r="http://schemas.openxmlformats.org/officeDocument/2006/relationships" id="267" r:id="Rc802d91cd9c944e3"/>
    <p:sldId xmlns:r="http://schemas.openxmlformats.org/officeDocument/2006/relationships" id="268" r:id="Rcdf6f17af7dc4362"/>
    <p:sldId xmlns:r="http://schemas.openxmlformats.org/officeDocument/2006/relationships" id="269" r:id="R4d498e67fda042a5"/>
    <p:sldId xmlns:r="http://schemas.openxmlformats.org/officeDocument/2006/relationships" id="270" r:id="Re6540161fc9147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93adfedb3d4730" /><Relationship Type="http://schemas.openxmlformats.org/officeDocument/2006/relationships/slideMaster" Target="/ppt/slideMasters/slideMaster1.xml" Id="Rbe867807b7da42e7" /><Relationship Type="http://schemas.openxmlformats.org/officeDocument/2006/relationships/notesMaster" Target="/ppt/notesMasters/notesMaster1.xml" Id="Rcf9cde8c3b234ece" /><Relationship Type="http://schemas.openxmlformats.org/officeDocument/2006/relationships/presProps" Target="/ppt/presProps.xml" Id="R72b669acf7744f10" /><Relationship Type="http://schemas.openxmlformats.org/officeDocument/2006/relationships/tableStyles" Target="/ppt/tableStyles.xml" Id="Re7c43c99dec54d9e" /><Relationship Type="http://schemas.openxmlformats.org/officeDocument/2006/relationships/slide" Target="/ppt/slides/slide1.xml" Id="Rb571aceb51104c19" /><Relationship Type="http://schemas.openxmlformats.org/officeDocument/2006/relationships/slide" Target="/ppt/slides/slide2.xml" Id="R38d7fd25e5e04e39" /><Relationship Type="http://schemas.openxmlformats.org/officeDocument/2006/relationships/slide" Target="/ppt/slides/slide3.xml" Id="R9b69d1d2818d4e26" /><Relationship Type="http://schemas.openxmlformats.org/officeDocument/2006/relationships/slide" Target="/ppt/slides/slide4.xml" Id="Rd480d98f0689482e" /><Relationship Type="http://schemas.openxmlformats.org/officeDocument/2006/relationships/slide" Target="/ppt/slides/slide5.xml" Id="R56a227ec85994f47" /><Relationship Type="http://schemas.openxmlformats.org/officeDocument/2006/relationships/slide" Target="/ppt/slides/slide6.xml" Id="R8040951429aa453c" /><Relationship Type="http://schemas.openxmlformats.org/officeDocument/2006/relationships/slide" Target="/ppt/slides/slide7.xml" Id="R324b38229f584c14" /><Relationship Type="http://schemas.openxmlformats.org/officeDocument/2006/relationships/slide" Target="/ppt/slides/slide8.xml" Id="R40afbc8c6c6745cc" /><Relationship Type="http://schemas.openxmlformats.org/officeDocument/2006/relationships/slide" Target="/ppt/slides/slide9.xml" Id="R6a96127665ce4676" /><Relationship Type="http://schemas.openxmlformats.org/officeDocument/2006/relationships/slide" Target="/ppt/slides/slide10.xml" Id="Rd11be5e325674b21" /><Relationship Type="http://schemas.openxmlformats.org/officeDocument/2006/relationships/slide" Target="/ppt/slides/slide11.xml" Id="R89210c27d1f84863" /><Relationship Type="http://schemas.openxmlformats.org/officeDocument/2006/relationships/slide" Target="/ppt/slides/slide12.xml" Id="Rc802d91cd9c944e3" /><Relationship Type="http://schemas.openxmlformats.org/officeDocument/2006/relationships/slide" Target="/ppt/slides/slide13.xml" Id="Rcdf6f17af7dc4362" /><Relationship Type="http://schemas.openxmlformats.org/officeDocument/2006/relationships/slide" Target="/ppt/slides/slide14.xml" Id="R4d498e67fda042a5" /><Relationship Type="http://schemas.openxmlformats.org/officeDocument/2006/relationships/slide" Target="/ppt/slides/slide15.xml" Id="Re6540161fc9147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64f929a66f44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98c54c74f74e38" /><Relationship Type="http://schemas.openxmlformats.org/officeDocument/2006/relationships/notesMaster" Target="/ppt/notesMasters/notesMaster1.xml" Id="R19715c7ca7f945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635cffa20d499c" /><Relationship Type="http://schemas.openxmlformats.org/officeDocument/2006/relationships/notesMaster" Target="/ppt/notesMasters/notesMaster1.xml" Id="R69ee3cbc2a0e48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4e2951b34147ad" /><Relationship Type="http://schemas.openxmlformats.org/officeDocument/2006/relationships/notesMaster" Target="/ppt/notesMasters/notesMaster1.xml" Id="R25b2dfba188c4d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862431939441d7" /><Relationship Type="http://schemas.openxmlformats.org/officeDocument/2006/relationships/notesMaster" Target="/ppt/notesMasters/notesMaster1.xml" Id="R6bdab189049d4d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8bc86f37624ff9" /><Relationship Type="http://schemas.openxmlformats.org/officeDocument/2006/relationships/notesMaster" Target="/ppt/notesMasters/notesMaster1.xml" Id="Rec6b3866e68642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fae25484e84e71" /><Relationship Type="http://schemas.openxmlformats.org/officeDocument/2006/relationships/notesMaster" Target="/ppt/notesMasters/notesMaster1.xml" Id="Rdf9297da7f944a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d0172f15334b59" /><Relationship Type="http://schemas.openxmlformats.org/officeDocument/2006/relationships/notesMaster" Target="/ppt/notesMasters/notesMaster1.xml" Id="R0837a7fce9524b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f2b800b3cb47f7" /><Relationship Type="http://schemas.openxmlformats.org/officeDocument/2006/relationships/notesMaster" Target="/ppt/notesMasters/notesMaster1.xml" Id="Rb2588357119e4e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401a26b35d4487" /><Relationship Type="http://schemas.openxmlformats.org/officeDocument/2006/relationships/notesMaster" Target="/ppt/notesMasters/notesMaster1.xml" Id="R0be08eea7a6b43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06d6ac7bcef41c7" /><Relationship Type="http://schemas.openxmlformats.org/officeDocument/2006/relationships/notesMaster" Target="/ppt/notesMasters/notesMaster1.xml" Id="Rc2b8fcc07c3e4cb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43a8c13eead4e32" /><Relationship Type="http://schemas.openxmlformats.org/officeDocument/2006/relationships/notesMaster" Target="/ppt/notesMasters/notesMaster1.xml" Id="R62f22652dd384d5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45f5704b2dc411d" /><Relationship Type="http://schemas.openxmlformats.org/officeDocument/2006/relationships/notesMaster" Target="/ppt/notesMasters/notesMaster1.xml" Id="R2952259d952f455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13e585be23340e0" /><Relationship Type="http://schemas.openxmlformats.org/officeDocument/2006/relationships/notesMaster" Target="/ppt/notesMasters/notesMaster1.xml" Id="Rb640e14dbeeb42c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351bef2e93e49de" /><Relationship Type="http://schemas.openxmlformats.org/officeDocument/2006/relationships/notesMaster" Target="/ppt/notesMasters/notesMaster1.xml" Id="R40d3014397f9454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453b18c90b143da" /><Relationship Type="http://schemas.openxmlformats.org/officeDocument/2006/relationships/notesMaster" Target="/ppt/notesMasters/notesMaster1.xml" Id="R855dca073d7649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Site institucional: https://sermst.com.br/</a:t>
            </a:r>
          </a:p>
          <a:p xmlns:a="http://schemas.openxmlformats.org/drawingml/2006/main">
            <a:r>
              <a:t>Logo e foto: assets oficiais presentes no projeto SERMST.</a:t>
            </a:r>
          </a:p>
          <a:p xmlns:a="http://schemas.openxmlformats.org/drawingml/2006/main">
            <a:r>
              <a:t>Texto de abertura: narrativa editorial criada a partir do briefing do cliente.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Site institucional: https://sermst.com.br/</a:t>
            </a:r>
          </a:p>
          <a:p xmlns:a="http://schemas.openxmlformats.org/drawingml/2006/main">
            <a:r>
              <a:t>Problemas operacionais sintetizados a partir das páginas Home, RH e Contato.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Site institucional: https://sermst.com.br/quem-somos</a:t>
            </a:r>
          </a:p>
          <a:p xmlns:a="http://schemas.openxmlformats.org/drawingml/2006/main">
            <a:r>
              <a:t>Site institucional: https://sermst.com.br/servicos</a:t>
            </a:r>
          </a:p>
          <a:p xmlns:a="http://schemas.openxmlformats.org/drawingml/2006/main">
            <a:r>
              <a:t>Proposta central baseada no briefing do cliente e na descrição pública dos serviços.</a:t>
            </a:r>
          </a:p>
          <a:p xmlns:a="http://schemas.openxmlformats.org/drawingml/2006/main">
            <a:r>
              <a:t>Ícones de referência: Lucide Icons, https://lucide.dev/ e https://github.com/lucide-icons/lucide/blob/main/LICENSE.</a:t>
            </a:r>
          </a:p>
          <a:p xmlns:a="http://schemas.openxmlformats.org/drawingml/2006/main">
            <a:r>
              <a:t>Moldura e ponto de navegação: tratamento customizado para esta apresentação.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Site institucional: https://sermst.com.br/</a:t>
            </a:r>
          </a:p>
          <a:p xmlns:a="http://schemas.openxmlformats.org/drawingml/2006/main">
            <a:r>
              <a:t>Site institucional: https://sermst.com.br/quem-somos</a:t>
            </a:r>
          </a:p>
          <a:p xmlns:a="http://schemas.openxmlformats.org/drawingml/2006/main">
            <a:r>
              <a:t>Números exibidos publicamente pela SERMST: +55 anos, +150 mil vidas, +3.500 empresas, +900 clínicas credenciadas.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Logos: materiais fornecidos pelo cliente nesta rodada de revisão.</a:t>
            </a:r>
          </a:p>
          <a:p xmlns:a="http://schemas.openxmlformats.org/drawingml/2006/main">
            <a:r>
              <a:t>Informação fornecida pelo cliente: mais de 1.500 empresas ativas.</a:t>
            </a:r>
          </a:p>
          <a:p xmlns:a="http://schemas.openxmlformats.org/drawingml/2006/main">
            <a:r>
              <a:t>A seleção de marcas não representa a carteira completa.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Site institucional: https://sermst.com.br/servicos</a:t>
            </a:r>
          </a:p>
          <a:p xmlns:a="http://schemas.openxmlformats.org/drawingml/2006/main">
            <a:r>
              <a:t>Site institucional: https://sermst.com.br/a-clinica</a:t>
            </a:r>
          </a:p>
          <a:p xmlns:a="http://schemas.openxmlformats.org/drawingml/2006/main">
            <a:r>
              <a:t>Foto principal: asset do projeto SERMST.</a:t>
            </a:r>
          </a:p>
          <a:p xmlns:a="http://schemas.openxmlformats.org/drawingml/2006/main">
            <a:r>
              <a:t>Imagem de apoio: https://www.pexels.com/photo/a-doctor-checking-a-patient-8460221/.</a:t>
            </a:r>
          </a:p>
          <a:p xmlns:a="http://schemas.openxmlformats.org/drawingml/2006/main">
            <a:r>
              <a:t>Referência técnica: NR-07 (PCMSO) — https://www.gov.br/trabalho-e-emprego/pt-br/assuntos/itens-para-verificar/uncategorised/norma-regulamentadora-n-07-programas-de-controle-medico-de-saude-ocupacional-pcmso.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Site institucional: https://sermst.com.br/servicos</a:t>
            </a:r>
          </a:p>
          <a:p xmlns:a="http://schemas.openxmlformats.org/drawingml/2006/main">
            <a:r>
              <a:t>Site institucional: https://sermst.com.br/normas</a:t>
            </a:r>
          </a:p>
          <a:p xmlns:a="http://schemas.openxmlformats.org/drawingml/2006/main">
            <a:r>
              <a:t>Serviços citados: PGR, LTCAT, PGRS, PGRSS, treinamentos de NRs, CIPA, ergonomia, laudos de insalubridade e periculosidade.</a:t>
            </a:r>
          </a:p>
          <a:p xmlns:a="http://schemas.openxmlformats.org/drawingml/2006/main">
            <a:r>
              <a:t>Imagem de apoio: https://www.pexels.com/photo/man-in-safety-helmet-and-goggles-17993024/.</a:t>
            </a:r>
          </a:p>
          <a:p xmlns:a="http://schemas.openxmlformats.org/drawingml/2006/main">
            <a:r>
              <a:t>Referência técnica: NR-09 atualizada 2026 — https://www.gov.br/trabalho-e-emprego/pt-br/acesso-a-informacao/participacao-social/conselhos-e-orgaos-colegiados/comissao-tripartite-partitaria-permanente/normas-regulamentadora/normas-regulamentadoras-vigentes/nr-09-atualizada-2026.pdf.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Site institucional: https://sermst.com.br/servicos</a:t>
            </a:r>
          </a:p>
          <a:p xmlns:a="http://schemas.openxmlformats.org/drawingml/2006/main">
            <a:r>
              <a:t>Site institucional: https://sermst.com.br/rh</a:t>
            </a:r>
          </a:p>
          <a:p xmlns:a="http://schemas.openxmlformats.org/drawingml/2006/main">
            <a:r>
              <a:t>Eventos citados publicamente pela SERMST: S-2220 e S-2240.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Site institucional: https://sermst.com.br/a-clinica</a:t>
            </a:r>
          </a:p>
          <a:p xmlns:a="http://schemas.openxmlformats.org/drawingml/2006/main">
            <a:r>
              <a:t>Google Maps: https://www.google.com/maps/search/?api=1&amp;query=SERMST+GEST%C3%83O+OCUPACIONAL+Largo+do+Paissandu+72+S%C3%A3o+Paulo</a:t>
            </a:r>
          </a:p>
          <a:p xmlns:a="http://schemas.openxmlformats.org/drawingml/2006/main">
            <a:r>
              <a:t>Fotos de recepção e corredor: assets do projeto SERMST.</a:t>
            </a:r>
          </a:p>
          <a:p xmlns:a="http://schemas.openxmlformats.org/drawingml/2006/main">
            <a:r>
              <a:t>Fotos adicionais: galeria pública do Google Maps, consultada em 12/08/2026.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Site institucional: https://sermst.com.br/contato</a:t>
            </a:r>
          </a:p>
          <a:p xmlns:a="http://schemas.openxmlformats.org/drawingml/2006/main">
            <a:r>
              <a:t>Fluxo em quatro etapas criado a partir do posicionamento comercial do site e do briefing do cliente.</a:t>
            </a:r>
          </a:p>
          <a:p xmlns:a="http://schemas.openxmlformats.org/drawingml/2006/main">
            <a:r>
              <a:t>Imagem de apoio: https://www.pexels.com/photo/professionals-looking-at-documents-8847204/.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Site institucional: https://sermst.com.br/</a:t>
            </a:r>
          </a:p>
          <a:p xmlns:a="http://schemas.openxmlformats.org/drawingml/2006/main">
            <a:r>
              <a:t>Benefícios sintetizados a partir do posicionamento de previsibilidade, menos retrabalho e acompanhamento técnico.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Site institucional: https://sermst.com.br/</a:t>
            </a:r>
          </a:p>
          <a:p xmlns:a="http://schemas.openxmlformats.org/drawingml/2006/main">
            <a:r>
              <a:t>Atendimento em nível nacional informado pelo cliente para esta apresentação.</a:t>
            </a:r>
          </a:p>
          <a:p xmlns:a="http://schemas.openxmlformats.org/drawingml/2006/main">
            <a:r>
              <a:t>Mapa de presença nacional: imagem fornecida pelo cliente nesta revisão.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Dados dos responsáveis técnicos fornecidos pelo cliente para esta apresentação.</a:t>
            </a:r>
          </a:p>
          <a:p xmlns:a="http://schemas.openxmlformats.org/drawingml/2006/main">
            <a:r>
              <a:t>Imagem fornecida pelo cliente nesta revisão.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Google Maps: https://www.google.com/maps/search/?api=1&amp;query=SERMST+GEST%C3%83O+OCUPACIONAL+Largo+do+Paissandu+72+S%C3%A3o+Paulo</a:t>
            </a:r>
          </a:p>
          <a:p xmlns:a="http://schemas.openxmlformats.org/drawingml/2006/main">
            <a:r>
              <a:t>Registro observado em 12/08/2026: nota 4,5/5 com 211 avaliações.</a:t>
            </a:r>
          </a:p>
          <a:p xmlns:a="http://schemas.openxmlformats.org/drawingml/2006/main">
            <a:r>
              <a:t>Frases exibidas publicamente na ficha do Google Maps e mantidas curtas, sem identificação de autor.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Dados de contato fornecidos pelo cliente e conferidos nas páginas públicas da SERMST.</a:t>
            </a:r>
          </a:p>
          <a:p xmlns:a="http://schemas.openxmlformats.org/drawingml/2006/main">
            <a:r>
              <a:t>Site institucional: https://sermst.com.br/contato</a:t>
            </a:r>
          </a:p>
          <a:p xmlns:a="http://schemas.openxmlformats.org/drawingml/2006/main">
            <a:r>
              <a:t>CNPJ e CNES fornecidos pelo cliente para esta apresentação.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6c015ecde04a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3a89d67ad444d1" /><Relationship Type="http://schemas.openxmlformats.org/officeDocument/2006/relationships/slideLayout" Target="/ppt/slideLayouts/slideLayout1.xml" Id="R0f07e759132a48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07e759132a48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b341e5116c446a" /><Relationship Type="http://schemas.openxmlformats.org/officeDocument/2006/relationships/image" Target="/ppt/media/image.jpeg" Id="R87b5cf7362d842b7" /><Relationship Type="http://schemas.openxmlformats.org/officeDocument/2006/relationships/image" Target="/ppt/media/image.png" Id="Rfb761c5dee1a43f5" /><Relationship Type="http://schemas.openxmlformats.org/officeDocument/2006/relationships/notesSlide" Target="/ppt/notesSlides/notesSlide1.xml" Id="R758779c3017b4f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caaa4ec994840" /><Relationship Type="http://schemas.openxmlformats.org/officeDocument/2006/relationships/notesSlide" Target="/ppt/notesSlides/notesSlide2.xml" Id="Rfb443a02fa3c46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70b82d545a4351" /><Relationship Type="http://schemas.openxmlformats.org/officeDocument/2006/relationships/image" Target="/ppt/media/image2.png" Id="Raffc0611a62740db" /><Relationship Type="http://schemas.openxmlformats.org/officeDocument/2006/relationships/image" Target="/ppt/media/image.svg" Id="R323be5b0ead54877" /><Relationship Type="http://schemas.openxmlformats.org/officeDocument/2006/relationships/image" Target="/ppt/media/image3.png" Id="R5b7c8604beec444e" /><Relationship Type="http://schemas.openxmlformats.org/officeDocument/2006/relationships/image" Target="/ppt/media/image2.svg" Id="R808e7a6cc1f844d8" /><Relationship Type="http://schemas.openxmlformats.org/officeDocument/2006/relationships/image" Target="/ppt/media/image4.png" Id="R6e3023660ab64dcf" /><Relationship Type="http://schemas.openxmlformats.org/officeDocument/2006/relationships/image" Target="/ppt/media/image3.svg" Id="R2975bd7673aa4b78" /><Relationship Type="http://schemas.openxmlformats.org/officeDocument/2006/relationships/notesSlide" Target="/ppt/notesSlides/notesSlide3.xml" Id="R354ad2ab6c8643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d215621244435" /><Relationship Type="http://schemas.openxmlformats.org/officeDocument/2006/relationships/notesSlide" Target="/ppt/notesSlides/notesSlide4.xml" Id="Rd7f4e6d0657c4e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79aa7a7f045f6" /><Relationship Type="http://schemas.openxmlformats.org/officeDocument/2006/relationships/image" Target="/ppt/media/image2.jpeg" Id="R1c0cce4580204d35" /><Relationship Type="http://schemas.openxmlformats.org/officeDocument/2006/relationships/image" Target="/ppt/media/image3.jpeg" Id="Re98d8962bc634c43" /><Relationship Type="http://schemas.openxmlformats.org/officeDocument/2006/relationships/image" Target="/ppt/media/image4.jpeg" Id="R55dd49d596af457b" /><Relationship Type="http://schemas.openxmlformats.org/officeDocument/2006/relationships/image" Target="/ppt/media/image5.jpeg" Id="Read3a0038a424c12" /><Relationship Type="http://schemas.openxmlformats.org/officeDocument/2006/relationships/image" Target="/ppt/media/image6.jpeg" Id="R81180d88644f4d24" /><Relationship Type="http://schemas.openxmlformats.org/officeDocument/2006/relationships/image" Target="/ppt/media/image7.jpeg" Id="R61760f6693174df1" /><Relationship Type="http://schemas.openxmlformats.org/officeDocument/2006/relationships/image" Target="/ppt/media/image5.png" Id="R71d11290c1764729" /><Relationship Type="http://schemas.openxmlformats.org/officeDocument/2006/relationships/image" Target="/ppt/media/image4.svg" Id="R06101ec1114145a9" /><Relationship Type="http://schemas.openxmlformats.org/officeDocument/2006/relationships/image" Target="/ppt/media/image8.jpeg" Id="R75fa5508f0784463" /><Relationship Type="http://schemas.openxmlformats.org/officeDocument/2006/relationships/image" Target="/ppt/media/image9.jpeg" Id="R96c3cfd636954104" /><Relationship Type="http://schemas.openxmlformats.org/officeDocument/2006/relationships/image" Target="/ppt/media/image10.jpeg" Id="R07d473cab37a4d4a" /><Relationship Type="http://schemas.openxmlformats.org/officeDocument/2006/relationships/image" Target="/ppt/media/image11.jpeg" Id="R6dce60de255c49d6" /><Relationship Type="http://schemas.openxmlformats.org/officeDocument/2006/relationships/image" Target="/ppt/media/image12.jpeg" Id="Rd0caf0b27e354df2" /><Relationship Type="http://schemas.openxmlformats.org/officeDocument/2006/relationships/image" Target="/ppt/media/image13.jpeg" Id="R5683192b6a88494f" /><Relationship Type="http://schemas.openxmlformats.org/officeDocument/2006/relationships/image" Target="/ppt/media/image14.jpeg" Id="R3d0abdb693244b2d" /><Relationship Type="http://schemas.openxmlformats.org/officeDocument/2006/relationships/image" Target="/ppt/media/image6.png" Id="R34b17de8babf4dd2" /><Relationship Type="http://schemas.openxmlformats.org/officeDocument/2006/relationships/image" Target="/ppt/media/image7.png" Id="R0beaca87829b41cb" /><Relationship Type="http://schemas.openxmlformats.org/officeDocument/2006/relationships/notesSlide" Target="/ppt/notesSlides/notesSlide5.xml" Id="R791775be396743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2fbbfaa64540fe" /><Relationship Type="http://schemas.openxmlformats.org/officeDocument/2006/relationships/image" Target="/ppt/media/image15.jpeg" Id="Rc84708b19e304592" /><Relationship Type="http://schemas.openxmlformats.org/officeDocument/2006/relationships/image" Target="/ppt/media/image16.jpeg" Id="Rdfa2133b772749dd" /><Relationship Type="http://schemas.openxmlformats.org/officeDocument/2006/relationships/notesSlide" Target="/ppt/notesSlides/notesSlide6.xml" Id="R92a2ea0b94474c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27c3cc5ba4809" /><Relationship Type="http://schemas.openxmlformats.org/officeDocument/2006/relationships/image" Target="/ppt/media/image17.jpeg" Id="R12f30f7ff5764022" /><Relationship Type="http://schemas.openxmlformats.org/officeDocument/2006/relationships/notesSlide" Target="/ppt/notesSlides/notesSlide7.xml" Id="R4d5127a158c049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a7f16547d441f" /><Relationship Type="http://schemas.openxmlformats.org/officeDocument/2006/relationships/notesSlide" Target="/ppt/notesSlides/notesSlide8.xml" Id="R5c33e35cb1f04c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3af2d2a5e4a0a" /><Relationship Type="http://schemas.openxmlformats.org/officeDocument/2006/relationships/image" Target="/ppt/media/image18.jpeg" Id="Rb473b7166ae64050" /><Relationship Type="http://schemas.openxmlformats.org/officeDocument/2006/relationships/image" Target="/ppt/media/image19.jpeg" Id="Rba2d50d0cce049f4" /><Relationship Type="http://schemas.openxmlformats.org/officeDocument/2006/relationships/image" Target="/ppt/media/image20.jpeg" Id="Rdfeb58ed280d44bb" /><Relationship Type="http://schemas.openxmlformats.org/officeDocument/2006/relationships/image" Target="/ppt/media/image21.jpeg" Id="R0955125899d94665" /><Relationship Type="http://schemas.openxmlformats.org/officeDocument/2006/relationships/notesSlide" Target="/ppt/notesSlides/notesSlide9.xml" Id="Ra02e6df2bd3947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dd6a6b85b0481e" /><Relationship Type="http://schemas.openxmlformats.org/officeDocument/2006/relationships/image" Target="/ppt/media/image22.jpeg" Id="R8e88e7b6541e4adf" /><Relationship Type="http://schemas.openxmlformats.org/officeDocument/2006/relationships/notesSlide" Target="/ppt/notesSlides/notesSlide10.xml" Id="R1edc0dee5dc047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e6b0d90db48a7" /><Relationship Type="http://schemas.openxmlformats.org/officeDocument/2006/relationships/notesSlide" Target="/ppt/notesSlides/notesSlide11.xml" Id="Rf6deceda50c540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f1a86fa044a13" /><Relationship Type="http://schemas.openxmlformats.org/officeDocument/2006/relationships/image" Target="/ppt/media/image8.png" Id="R996e807e296a4079" /><Relationship Type="http://schemas.openxmlformats.org/officeDocument/2006/relationships/notesSlide" Target="/ppt/notesSlides/notesSlide12.xml" Id="Rc674a1aaac2341e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3a7f2696848fd" /><Relationship Type="http://schemas.openxmlformats.org/officeDocument/2006/relationships/image" Target="/ppt/media/image23.jpeg" Id="Rfeb429c3271140cb" /><Relationship Type="http://schemas.openxmlformats.org/officeDocument/2006/relationships/notesSlide" Target="/ppt/notesSlides/notesSlide13.xml" Id="Rbf877c03c3c34c0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a93b70b8c467a" /><Relationship Type="http://schemas.openxmlformats.org/officeDocument/2006/relationships/image" Target="/ppt/media/image9.png" Id="Re5d74bc88dbe4f96" /><Relationship Type="http://schemas.openxmlformats.org/officeDocument/2006/relationships/image" Target="/ppt/media/image5.svg" Id="R4f29a56a05f344bb" /><Relationship Type="http://schemas.openxmlformats.org/officeDocument/2006/relationships/notesSlide" Target="/ppt/notesSlides/notesSlide14.xml" Id="R966876231dc74e0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d52223605411b" /><Relationship Type="http://schemas.openxmlformats.org/officeDocument/2006/relationships/image" Target="/ppt/media/image10.png" Id="R8351783cb1d244df" /><Relationship Type="http://schemas.openxmlformats.org/officeDocument/2006/relationships/notesSlide" Target="/ppt/notesSlides/notesSlide15.xml" Id="R9a21234557d64d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ED9116-EA12-4195-997E-0B4B9619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048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EB24B7-70ED-4AD9-898B-7FE6B900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b5cf7362d842b7"/>
          <a:srcRect xmlns:a="http://schemas.openxmlformats.org/drawingml/2006/main" l="22917" t="0" r="229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761c5dee1a43f5"/>
          <a:stretch xmlns:a="http://schemas.openxmlformats.org/drawingml/2006/main"/>
        </p:blipFill>
        <p:spPr>
          <a:xfrm xmlns:a="http://schemas.openxmlformats.org/drawingml/2006/main">
            <a:off x="1635125" y="647700"/>
            <a:ext cx="1778000" cy="5334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B6BE3-9A82-4937-A8CA-FD5DC707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9C0D8"/>
                </a:solidFill>
              </a:defRPr>
            </a:pPr>
            <a:r>
              <a:rPr sz="975" b="1" i="0">
                <a:solidFill>
                  <a:srgbClr val="A9C0D8"/>
                </a:solidFill>
              </a:rPr>
              <a:t>APRESENTAÇÃO COMERCIAL ·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A8C641-6CFA-43CB-BCF0-12D1E822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6000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FFFFF"/>
                </a:solidFill>
              </a:defRPr>
            </a:pPr>
            <a:r>
              <a:rPr sz="4050" b="1" i="0">
                <a:solidFill>
                  <a:srgbClr val="FFFFFF"/>
                </a:solidFill>
              </a:rPr>
              <a:t>SST organizada para a empresa</a:t>
            </a:r>
          </a:p>
          <a:p xmlns:a="http://schemas.openxmlformats.org/drawingml/2006/main">
            <a:pPr algn="l">
              <a:defRPr sz="4050" b="1" i="0">
                <a:solidFill>
                  <a:srgbClr val="FFFFFF"/>
                </a:solidFill>
              </a:defRPr>
            </a:pPr>
            <a:r>
              <a:rPr sz="4050" b="1" i="0">
                <a:solidFill>
                  <a:srgbClr val="FFFFFF"/>
                </a:solidFill>
              </a:rPr>
              <a:t>seguir em frente.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5B210A-EE8E-4B8C-8806-7E99E926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6D0D8"/>
                </a:solidFill>
              </a:defRPr>
            </a:pPr>
            <a:r>
              <a:rPr sz="1425" b="0" i="0">
                <a:solidFill>
                  <a:srgbClr val="C6D0D8"/>
                </a:solidFill>
              </a:rPr>
              <a:t>Medicina ocupacional, segurança do trabalho, documentos e eSocial conectados à rotina de quem precisa decidir e operar.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524F3-483C-4721-BE91-7DF766F9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00625"/>
            <a:ext cx="2381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53718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C43C0E-1F0F-406E-9C2E-A4778C6E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1816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0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48CFB1-9A79-497C-AED9-147278B4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3054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C6D0D8"/>
                </a:solidFill>
              </a:defRPr>
            </a:pPr>
            <a:r>
              <a:rPr sz="975" b="0" i="0">
                <a:solidFill>
                  <a:srgbClr val="C6D0D8"/>
                </a:solidFill>
              </a:rPr>
              <a:t>Uma parceria para RHs e gestores que precisam de menos retrabalho e mais previsibilidade.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E32F8F-0ADC-4DCB-A468-6B986E28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53100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55+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543F54-1E0E-4AD1-AB4D-AD92FF37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8959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C6D0D8"/>
                </a:solidFill>
              </a:defRPr>
            </a:pPr>
            <a:r>
              <a:rPr sz="975" b="0" i="0">
                <a:solidFill>
                  <a:srgbClr val="C6D0D8"/>
                </a:solidFill>
              </a:rPr>
              <a:t>anos de história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BF94F9-40EA-4EB5-B7F2-97A1766A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531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193A3"/>
                </a:solidFill>
              </a:defRPr>
            </a:pPr>
            <a:r>
              <a:rPr sz="825" b="0" i="0">
                <a:solidFill>
                  <a:srgbClr val="8193A3"/>
                </a:solidFill>
              </a:rPr>
              <a:t>Use as setas ou avance para conhecer o fluxo.</a:t>
            </a:r>
          </a:p>
        </p:txBody>
      </p:sp>
    </p:spTree>
    <p:extLst>
      <p:ext uri="{BB962C8B-B14F-4D97-AF65-F5344CB8AC3E}">
        <p14:creationId xmlns:p14="http://schemas.microsoft.com/office/powerpoint/2010/main" val="13313385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B826A8-6387-43F2-A81C-66C5EF89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4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5C0D3"/>
                </a:solidFill>
              </a:defRPr>
            </a:pPr>
            <a:r>
              <a:rPr sz="975" b="1" i="0">
                <a:solidFill>
                  <a:srgbClr val="A5C0D3"/>
                </a:solidFill>
              </a:rPr>
              <a:t>O PONTO DE PARTIDA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3AFD4-3D1D-47F7-A289-7EB2E179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62050"/>
            <a:ext cx="590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FFFFFF"/>
                </a:solidFill>
              </a:defRPr>
            </a:pPr>
            <a:r>
              <a:rPr sz="2775" b="1" i="0">
                <a:solidFill>
                  <a:srgbClr val="FFFFFF"/>
                </a:solidFill>
              </a:rPr>
              <a:t>Quando a rotina depende de planilhas, mensagens e urgências,</a:t>
            </a:r>
          </a:p>
          <a:p xmlns:a="http://schemas.openxmlformats.org/drawingml/2006/main">
            <a:pPr algn="l">
              <a:defRPr sz="2775" b="1" i="0">
                <a:solidFill>
                  <a:srgbClr val="FFFFFF"/>
                </a:solidFill>
              </a:defRPr>
            </a:pPr>
            <a:r>
              <a:rPr sz="2775" b="1" i="0">
                <a:solidFill>
                  <a:srgbClr val="FFFFFF"/>
                </a:solidFill>
              </a:rPr>
              <a:t>o RH perde o fio.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D28CFD-D232-41A5-9A93-4CCE2BA2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EBBC6"/>
                </a:solidFill>
              </a:defRPr>
            </a:pPr>
            <a:r>
              <a:rPr sz="1350" b="0" i="0">
                <a:solidFill>
                  <a:srgbClr val="AEBBC6"/>
                </a:solidFill>
              </a:rPr>
              <a:t>Os gargalos aparecem em momentos que não podem parar: uma admissão, um exame, um documento vencido ou um evento do eSocial.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194025-E52C-4BAC-A6D0-0732F8FE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192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9C0D8"/>
                </a:solidFill>
              </a:defRPr>
            </a:pPr>
            <a:r>
              <a:rPr sz="825" b="1" i="0">
                <a:solidFill>
                  <a:srgbClr val="A9C0D8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A6280-0442-4D99-B21E-139EA2CE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1811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Admissão travada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7D5AC-0663-4BE4-B05C-60BEE550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811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9DB0BF"/>
                </a:solidFill>
              </a:defRPr>
            </a:pPr>
            <a:r>
              <a:rPr sz="975" b="0" i="0">
                <a:solidFill>
                  <a:srgbClr val="9DB0BF"/>
                </a:solidFill>
              </a:rPr>
              <a:t>Exame e ASO não acompanham o ritmo da contratação.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0AB32D-02F9-4E10-8181-B2AD5336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62150"/>
            <a:ext cx="352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71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D954F5-5602-4B2D-86BE-07A2AB10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336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9C0D8"/>
                </a:solidFill>
              </a:defRPr>
            </a:pPr>
            <a:r>
              <a:rPr sz="825" b="1" i="0">
                <a:solidFill>
                  <a:srgbClr val="A9C0D8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82817B-1113-4232-9AC2-33DF527C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955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Documento espalhado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A8FA64-1F1A-41EA-AB95-AC9371EE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95575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9DB0BF"/>
                </a:solidFill>
              </a:defRPr>
            </a:pPr>
            <a:r>
              <a:rPr sz="975" b="0" i="0">
                <a:solidFill>
                  <a:srgbClr val="9DB0BF"/>
                </a:solidFill>
              </a:rPr>
              <a:t>Laudos, programas e certificados ficam difíceis de localizar.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200130-177A-4E84-A55C-F43AA404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76575"/>
            <a:ext cx="352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71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CB453D-8291-424D-8202-2477AC6B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480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9C0D8"/>
                </a:solidFill>
              </a:defRPr>
            </a:pPr>
            <a:r>
              <a:rPr sz="825" b="1" i="0">
                <a:solidFill>
                  <a:srgbClr val="A9C0D8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35ECD9-3307-4112-89F0-9405AB59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099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Prazo sem dono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76737B-1EE3-4458-8E1F-33F37041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100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9DB0BF"/>
                </a:solidFill>
              </a:defRPr>
            </a:pPr>
            <a:r>
              <a:rPr sz="975" b="0" i="0">
                <a:solidFill>
                  <a:srgbClr val="9DB0BF"/>
                </a:solidFill>
              </a:rPr>
              <a:t>Vencimentos e pendências dependem de lembretes soltos.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92CFF8-3EC6-4B4A-A147-90F07254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91000"/>
            <a:ext cx="352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71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FC073F-FBF0-4E5C-91D5-563EF164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624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9C0D8"/>
                </a:solidFill>
              </a:defRPr>
            </a:pPr>
            <a:r>
              <a:rPr sz="825" b="1" i="0">
                <a:solidFill>
                  <a:srgbClr val="A9C0D8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92A25C-2475-431D-9804-89FA07E0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243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Operação desconectada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CAD4A3-F694-49E2-8E91-051639A7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24425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9DB0BF"/>
                </a:solidFill>
              </a:defRPr>
            </a:pPr>
            <a:r>
              <a:rPr sz="975" b="0" i="0">
                <a:solidFill>
                  <a:srgbClr val="9DB0BF"/>
                </a:solidFill>
              </a:rPr>
              <a:t>O documento não acompanha a realidade da função ou do risco.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7BFFB8-D7F3-4A24-8EA9-6C157E32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305425"/>
            <a:ext cx="352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71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1E9A7D-C268-4197-ACB7-A79A11FA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579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EBBC6"/>
                </a:solidFill>
              </a:defRPr>
            </a:pPr>
            <a:r>
              <a:rPr sz="1275" b="1" i="0">
                <a:solidFill>
                  <a:srgbClr val="AEBBC6"/>
                </a:solidFill>
              </a:rPr>
              <a:t>A pergunta não é só “qual exame?”. É “como manter a rotina sob controle?”</a:t>
            </a:r>
          </a:p>
        </p:txBody>
      </p:sp>
    </p:spTree>
    <p:extLst>
      <p:ext uri="{BB962C8B-B14F-4D97-AF65-F5344CB8AC3E}">
        <p14:creationId xmlns:p14="http://schemas.microsoft.com/office/powerpoint/2010/main" val="2673355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93EE35-1F51-4DEA-B6CD-2EEDF34C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4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F5F98"/>
                </a:solidFill>
              </a:defRPr>
            </a:pPr>
            <a:r>
              <a:rPr sz="975" b="1" i="0">
                <a:solidFill>
                  <a:srgbClr val="2F5F98"/>
                </a:solidFill>
              </a:rPr>
              <a:t>A PROPOSTA SERMST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8FD80-EFA7-4EA5-BDA5-BC7441B1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6205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75" b="1" i="0">
                <a:solidFill>
                  <a:srgbClr val="071626"/>
                </a:solidFill>
              </a:defRPr>
            </a:pPr>
            <a:r>
              <a:rPr sz="3375" b="1" i="0">
                <a:solidFill>
                  <a:srgbClr val="071626"/>
                </a:solidFill>
              </a:rPr>
              <a:t>Um único fluxo para o que o RH precisa acompanhar.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744D0-43C0-4F44-99DE-71E11838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97786"/>
                </a:solidFill>
              </a:defRPr>
            </a:pPr>
            <a:r>
              <a:rPr sz="1275" b="0" i="0">
                <a:solidFill>
                  <a:srgbClr val="697786"/>
                </a:solidFill>
              </a:rPr>
              <a:t>A SERMST combina atendimento clínico, engenharia e gestão documental para que cada etapa faça sentido na operação da empresa.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C7931-7B9A-49E9-932B-011F15F0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2905125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5F9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17FC44-CC7A-4AB8-A55F-45299BE6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97786"/>
                </a:solidFill>
              </a:defRPr>
            </a:pPr>
            <a:r>
              <a:rPr sz="825" b="1" i="0">
                <a:solidFill>
                  <a:srgbClr val="697786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B006AD-024B-4871-83E7-E788430E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386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F5F98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fc0611a62740db">
            <a:extLst>
              <a:ext uri="{96DAC541-7B7A-43D3-8B79-37D633B846F1}">
                <asvg:svgBlip xmlns:asvg="http://schemas.microsoft.com/office/drawing/2016/SVG/main" r:embed="R323be5b0ead5487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81100" y="40957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BD1CDD-5EFB-49E4-B756-87F840CB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91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71626"/>
                </a:solidFill>
              </a:defRPr>
            </a:pPr>
            <a:r>
              <a:rPr sz="1875" b="1" i="0">
                <a:solidFill>
                  <a:srgbClr val="071626"/>
                </a:solidFill>
              </a:rPr>
              <a:t>Medicina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7463B4-FBA7-454F-BDAF-6B5564FD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81575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97786"/>
                </a:solidFill>
              </a:defRPr>
            </a:pPr>
            <a:r>
              <a:rPr sz="975" b="0" i="0">
                <a:solidFill>
                  <a:srgbClr val="697786"/>
                </a:solidFill>
              </a:rPr>
              <a:t>Exames, ASO e acompanhamento da saúde ocupacional.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604BE6-293B-4F05-9FA4-7D33E744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3053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2F5F98"/>
                </a:solidFill>
              </a:defRPr>
            </a:pPr>
            <a:r>
              <a:rPr sz="1950" b="0" i="0">
                <a:solidFill>
                  <a:srgbClr val="2F5F98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D47C7C-5495-413B-A028-4F892CC1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76625"/>
            <a:ext cx="2905125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3E7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6DBA9B-F696-49EC-9595-D1F4B0A9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7147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97786"/>
                </a:solidFill>
              </a:defRPr>
            </a:pPr>
            <a:r>
              <a:rPr sz="825" b="1" i="0">
                <a:solidFill>
                  <a:srgbClr val="697786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097909-FC21-4D7F-8D83-18EFB6B0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0386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E79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7c8604beec444e">
            <a:extLst>
              <a:ext uri="{96DAC541-7B7A-43D3-8B79-37D633B846F1}">
                <asvg:svgBlip xmlns:asvg="http://schemas.microsoft.com/office/drawing/2016/SVG/main" r:embed="R808e7a6cc1f844d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57725" y="40957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EA06FC-B53C-4571-9E9B-2A2679A1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591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71626"/>
                </a:solidFill>
              </a:defRPr>
            </a:pPr>
            <a:r>
              <a:rPr sz="1875" b="1" i="0">
                <a:solidFill>
                  <a:srgbClr val="071626"/>
                </a:solidFill>
              </a:rPr>
              <a:t>Segurança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B291BF-43D8-4B5A-9D50-120BF933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981575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97786"/>
                </a:solidFill>
              </a:defRPr>
            </a:pPr>
            <a:r>
              <a:rPr sz="975" b="0" i="0">
                <a:solidFill>
                  <a:srgbClr val="697786"/>
                </a:solidFill>
              </a:rPr>
              <a:t>Riscos, programas, laudos, treinamentos e prevenção.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113FD0-97EF-437F-B136-4E080ACB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053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2F5F98"/>
                </a:solidFill>
              </a:defRPr>
            </a:pPr>
            <a:r>
              <a:rPr sz="1950" b="0" i="0">
                <a:solidFill>
                  <a:srgbClr val="2F5F98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1845B7-C67C-4001-B2E5-E6576B39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76625"/>
            <a:ext cx="2905125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716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8F41CA-0890-4E41-870F-DCE67B2E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147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97786"/>
                </a:solidFill>
              </a:defRPr>
            </a:pPr>
            <a:r>
              <a:rPr sz="825" b="1" i="0">
                <a:solidFill>
                  <a:srgbClr val="697786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639016-3B22-4A3E-A1BC-7FEE9778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386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71626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023660ab64dcf">
            <a:extLst>
              <a:ext uri="{96DAC541-7B7A-43D3-8B79-37D633B846F1}">
                <asvg:svgBlip xmlns:asvg="http://schemas.microsoft.com/office/drawing/2016/SVG/main" r:embed="R2975bd7673aa4b7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34350" y="40957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988C04-423A-47B2-BB9F-4122C86F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91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71626"/>
                </a:solidFill>
              </a:defRPr>
            </a:pPr>
            <a:r>
              <a:rPr sz="1875" b="1" i="0">
                <a:solidFill>
                  <a:srgbClr val="071626"/>
                </a:solidFill>
              </a:rPr>
              <a:t>Gestão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7FC1F2-7E97-4C57-A66D-C243E424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81575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97786"/>
                </a:solidFill>
              </a:defRPr>
            </a:pPr>
            <a:r>
              <a:rPr sz="975" b="0" i="0">
                <a:solidFill>
                  <a:srgbClr val="697786"/>
                </a:solidFill>
              </a:rPr>
              <a:t>Documentos, vencimentos e eSocial com rastreabilidade.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B07DCC-3BD5-4D08-9827-84154376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4837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697786"/>
                </a:solidFill>
              </a:defRPr>
            </a:pPr>
            <a:r>
              <a:rPr sz="1275" b="1" i="0">
                <a:solidFill>
                  <a:srgbClr val="697786"/>
                </a:solidFill>
              </a:rPr>
              <a:t>O trabalho não termina na entrega do documento. Ele precisa continuar coerente com a operação.</a:t>
            </a:r>
          </a:p>
        </p:txBody>
      </p:sp>
    </p:spTree>
    <p:extLst>
      <p:ext uri="{BB962C8B-B14F-4D97-AF65-F5344CB8AC3E}">
        <p14:creationId xmlns:p14="http://schemas.microsoft.com/office/powerpoint/2010/main" val="1638857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3E7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19BF9A-8760-40B1-ABB2-40D82097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4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5C0D3"/>
                </a:solidFill>
              </a:defRPr>
            </a:pPr>
            <a:r>
              <a:rPr sz="975" b="1" i="0">
                <a:solidFill>
                  <a:srgbClr val="A5C0D3"/>
                </a:solidFill>
              </a:rPr>
              <a:t>EXPERIÊNCIA QUE VIRA ESCALA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F4E33-E127-4137-8B65-C184466C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6205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75" b="1" i="0">
                <a:solidFill>
                  <a:srgbClr val="FFFFFF"/>
                </a:solidFill>
              </a:defRPr>
            </a:pPr>
            <a:r>
              <a:rPr sz="3375" b="1" i="0">
                <a:solidFill>
                  <a:srgbClr val="FFFFFF"/>
                </a:solidFill>
              </a:rPr>
              <a:t>Uma operação construída para acompanhar empresas.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0F4905-8E42-43A9-9CEC-FBDB3077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21920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8CAD6"/>
                </a:solidFill>
              </a:defRPr>
            </a:pPr>
            <a:r>
              <a:rPr sz="1200" b="0" i="0">
                <a:solidFill>
                  <a:srgbClr val="B8CAD6"/>
                </a:solidFill>
              </a:rPr>
              <a:t>Da unidade central às operações com várias localidades, a SERMST organiza a rotina para o RH enxergar o que vem depois.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94655F-5D02-4874-B3DB-08E85CC6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A9C0D8"/>
                </a:solidFill>
              </a:defRPr>
            </a:pPr>
            <a:r>
              <a:rPr sz="3450" b="1" i="0">
                <a:solidFill>
                  <a:srgbClr val="A9C0D8"/>
                </a:solidFill>
              </a:rPr>
              <a:t>55+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32EA4-D641-4AA7-B653-C03DFA27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8CAD6"/>
                </a:solidFill>
              </a:defRPr>
            </a:pPr>
            <a:r>
              <a:rPr sz="1050" b="0" i="0">
                <a:solidFill>
                  <a:srgbClr val="B8CAD6"/>
                </a:solidFill>
              </a:rPr>
              <a:t>anos de história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DACA24-137B-4FAC-854F-4A0263E0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337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71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510EC3-661E-4505-B1D2-BB1AED19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A9C0D8"/>
                </a:solidFill>
              </a:defRPr>
            </a:pPr>
            <a:r>
              <a:rPr sz="3450" b="1" i="0">
                <a:solidFill>
                  <a:srgbClr val="A9C0D8"/>
                </a:solidFill>
              </a:rPr>
              <a:t>150 mil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A9EF5-1607-4D69-9139-5E5731A7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957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8CAD6"/>
                </a:solidFill>
              </a:defRPr>
            </a:pPr>
            <a:r>
              <a:rPr sz="1050" b="0" i="0">
                <a:solidFill>
                  <a:srgbClr val="B8CAD6"/>
                </a:solidFill>
              </a:rPr>
              <a:t>vidas atendidas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41BE1A-02C3-4313-8382-0279FDB9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3337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71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6AB546-C8EE-4220-835D-4F2EEB97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A9C0D8"/>
                </a:solidFill>
              </a:defRPr>
            </a:pPr>
            <a:r>
              <a:rPr sz="3450" b="1" i="0">
                <a:solidFill>
                  <a:srgbClr val="A9C0D8"/>
                </a:solidFill>
              </a:rPr>
              <a:t>3.500+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AC4429-EFDA-4AB9-8ACB-21209BA5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8CAD6"/>
                </a:solidFill>
              </a:defRPr>
            </a:pPr>
            <a:r>
              <a:rPr sz="1050" b="0" i="0">
                <a:solidFill>
                  <a:srgbClr val="B8CAD6"/>
                </a:solidFill>
              </a:rPr>
              <a:t>empresas atendidas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B6247E-F59B-4958-80E0-9289F02E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337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71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B17267-8F30-4613-857F-F1E0DB98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33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A9C0D8"/>
                </a:solidFill>
              </a:defRPr>
            </a:pPr>
            <a:r>
              <a:rPr sz="3450" b="1" i="0">
                <a:solidFill>
                  <a:srgbClr val="A9C0D8"/>
                </a:solidFill>
              </a:rPr>
              <a:t>900+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9F4EFF-EFDF-4A3A-8699-415117D0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8CAD6"/>
                </a:solidFill>
              </a:defRPr>
            </a:pPr>
            <a:r>
              <a:rPr sz="1050" b="0" i="0">
                <a:solidFill>
                  <a:srgbClr val="B8CAD6"/>
                </a:solidFill>
              </a:rPr>
              <a:t>clínicas credenciadas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C51AB8-0F13-44C3-803B-4F24C70A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0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A73BFF-7D83-40C7-B84C-FABDD9F0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340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9DB0BF"/>
                </a:solidFill>
              </a:defRPr>
            </a:pPr>
            <a:r>
              <a:rPr sz="975" b="0" i="0">
                <a:solidFill>
                  <a:srgbClr val="9DB0BF"/>
                </a:solidFill>
              </a:rPr>
              <a:t>Experiência clínica · Equipe multidisciplinar · Rede de atendimento</a:t>
            </a:r>
          </a:p>
        </p:txBody>
      </p:sp>
    </p:spTree>
    <p:extLst>
      <p:ext uri="{BB962C8B-B14F-4D97-AF65-F5344CB8AC3E}">
        <p14:creationId xmlns:p14="http://schemas.microsoft.com/office/powerpoint/2010/main" val="3867722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9EC97F-3725-487E-9CED-FCECB59A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4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F5F98"/>
                </a:solidFill>
              </a:defRPr>
            </a:pPr>
            <a:r>
              <a:rPr sz="975" b="1" i="0">
                <a:solidFill>
                  <a:srgbClr val="2F5F98"/>
                </a:solidFill>
              </a:rPr>
              <a:t>EMPRESAS ATENDIDAS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281F75-B754-429A-A81A-9ADE1933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62050"/>
            <a:ext cx="990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71626"/>
                </a:solidFill>
              </a:defRPr>
            </a:pPr>
            <a:r>
              <a:rPr sz="3000" b="1" i="0">
                <a:solidFill>
                  <a:srgbClr val="071626"/>
                </a:solidFill>
              </a:rPr>
              <a:t>Mais de 1.500 empresas ativas no mesmo radar.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13015-9E90-4E34-AF38-54A9DE6B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97786"/>
                </a:solidFill>
              </a:defRPr>
            </a:pPr>
            <a:r>
              <a:rPr sz="1200" b="0" i="0">
                <a:solidFill>
                  <a:srgbClr val="697786"/>
                </a:solidFill>
              </a:rPr>
              <a:t>Uma seleção de empresas que já confiaram à SERMST a rotina de saúde e segurança do trabalho. A carteira é maior — estes são apenas alguns exemplos.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D41D4-D7A9-4EA7-B6E7-7472B8BA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2F5F98"/>
                </a:solidFill>
              </a:defRPr>
            </a:pPr>
            <a:r>
              <a:rPr sz="3600" b="1" i="0">
                <a:solidFill>
                  <a:srgbClr val="2F5F98"/>
                </a:solidFill>
              </a:rPr>
              <a:t>1.500+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D71A27-80A8-4741-9908-9416CAF4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8765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23E79"/>
                </a:solidFill>
              </a:defRPr>
            </a:pPr>
            <a:r>
              <a:rPr sz="975" b="0" i="0">
                <a:solidFill>
                  <a:srgbClr val="123E79"/>
                </a:solidFill>
              </a:rPr>
              <a:t>empresas ativas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52CCE9-FB9D-4B58-91DA-75974813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2457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7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0cce4580204d35"/>
          <a:stretch xmlns:a="http://schemas.openxmlformats.org/drawingml/2006/main"/>
        </p:blipFill>
        <p:spPr>
          <a:xfrm xmlns:a="http://schemas.openxmlformats.org/drawingml/2006/main">
            <a:off x="1918081" y="3409950"/>
            <a:ext cx="526288" cy="5334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8B594F-25D6-48FB-8363-29581B14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2457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7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8d8962bc634c43"/>
          <a:stretch xmlns:a="http://schemas.openxmlformats.org/drawingml/2006/main"/>
        </p:blipFill>
        <p:spPr>
          <a:xfrm xmlns:a="http://schemas.openxmlformats.org/drawingml/2006/main">
            <a:off x="4486275" y="340995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CADD39-6561-4174-84B2-3905E7B6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2457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7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dd49d596af457b"/>
          <a:stretch xmlns:a="http://schemas.openxmlformats.org/drawingml/2006/main"/>
        </p:blipFill>
        <p:spPr>
          <a:xfrm xmlns:a="http://schemas.openxmlformats.org/drawingml/2006/main">
            <a:off x="6862794" y="3409950"/>
            <a:ext cx="923863" cy="5334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E0A854-83AF-40EA-AD69-0C66DE9E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33750"/>
            <a:ext cx="2457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7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d3a0038a424c12"/>
          <a:stretch xmlns:a="http://schemas.openxmlformats.org/drawingml/2006/main"/>
        </p:blipFill>
        <p:spPr>
          <a:xfrm xmlns:a="http://schemas.openxmlformats.org/drawingml/2006/main">
            <a:off x="9271434" y="3409950"/>
            <a:ext cx="1250083" cy="5334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181AFB-A58D-4600-928A-7E36C86E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52900"/>
            <a:ext cx="2457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7"/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180d88644f4d24"/>
          <a:stretch xmlns:a="http://schemas.openxmlformats.org/drawingml/2006/main"/>
        </p:blipFill>
        <p:spPr>
          <a:xfrm xmlns:a="http://schemas.openxmlformats.org/drawingml/2006/main">
            <a:off x="1914525" y="42291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002B64-7EAE-4D93-A8A1-FAE4ED07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52900"/>
            <a:ext cx="2457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7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760f6693174df1"/>
          <a:stretch xmlns:a="http://schemas.openxmlformats.org/drawingml/2006/main"/>
        </p:blipFill>
        <p:spPr>
          <a:xfrm xmlns:a="http://schemas.openxmlformats.org/drawingml/2006/main">
            <a:off x="4445441" y="4229100"/>
            <a:ext cx="615069" cy="533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2E8A5E-66AE-4139-83FB-F6E30F93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52900"/>
            <a:ext cx="2457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7"/>
            </a:solidFill>
            <a:prstDash val="solid"/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d11290c1764729">
            <a:extLst>
              <a:ext uri="{96DAC541-7B7A-43D3-8B79-37D633B846F1}">
                <asvg:svgBlip xmlns:asvg="http://schemas.microsoft.com/office/drawing/2016/SVG/main" r:embed="R06101ec1114145a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191250" y="4229100"/>
            <a:ext cx="2266950" cy="5334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CC1D83-6A65-4F89-B74F-A887686A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52900"/>
            <a:ext cx="2457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7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fa5508f0784463"/>
          <a:stretch xmlns:a="http://schemas.openxmlformats.org/drawingml/2006/main"/>
        </p:blipFill>
        <p:spPr>
          <a:xfrm xmlns:a="http://schemas.openxmlformats.org/drawingml/2006/main">
            <a:off x="9629775" y="42291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8B03A2-C7EC-4B55-9104-663E5288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2457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7"/>
            </a:solidFill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c3cfd636954104"/>
          <a:stretch xmlns:a="http://schemas.openxmlformats.org/drawingml/2006/main"/>
        </p:blipFill>
        <p:spPr>
          <a:xfrm xmlns:a="http://schemas.openxmlformats.org/drawingml/2006/main">
            <a:off x="1914525" y="504825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760E2B-B72E-4FE9-8967-7199FD14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72050"/>
            <a:ext cx="2457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7"/>
            </a:solidFill>
            <a:prstDash val="solid"/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473cab37a4d4a"/>
          <a:stretch xmlns:a="http://schemas.openxmlformats.org/drawingml/2006/main"/>
        </p:blipFill>
        <p:spPr>
          <a:xfrm xmlns:a="http://schemas.openxmlformats.org/drawingml/2006/main">
            <a:off x="4486275" y="504825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5AD6EA-1156-4588-A7AE-5A0F67E1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72050"/>
            <a:ext cx="2457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7"/>
            </a:solidFill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ce60de255c49d6"/>
          <a:stretch xmlns:a="http://schemas.openxmlformats.org/drawingml/2006/main"/>
        </p:blipFill>
        <p:spPr>
          <a:xfrm xmlns:a="http://schemas.openxmlformats.org/drawingml/2006/main">
            <a:off x="6962268" y="5048250"/>
            <a:ext cx="724913" cy="5334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276CA5-1A76-4BE1-BB48-A574ACFD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72050"/>
            <a:ext cx="2457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7"/>
            </a:solidFill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caf0b27e354df2"/>
          <a:stretch xmlns:a="http://schemas.openxmlformats.org/drawingml/2006/main"/>
        </p:blipFill>
        <p:spPr>
          <a:xfrm xmlns:a="http://schemas.openxmlformats.org/drawingml/2006/main">
            <a:off x="9190429" y="5048250"/>
            <a:ext cx="1412093" cy="5334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F87DB8-263F-49BD-8F75-754FA602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91200"/>
            <a:ext cx="2457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7"/>
            </a:solidFill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83192b6a88494f"/>
          <a:stretch xmlns:a="http://schemas.openxmlformats.org/drawingml/2006/main"/>
        </p:blipFill>
        <p:spPr>
          <a:xfrm xmlns:a="http://schemas.openxmlformats.org/drawingml/2006/main">
            <a:off x="1694890" y="5867400"/>
            <a:ext cx="972671" cy="53340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C55C5F-93DA-4932-9FE7-BCCD55CE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791200"/>
            <a:ext cx="2457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7"/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0abdb693244b2d"/>
          <a:stretch xmlns:a="http://schemas.openxmlformats.org/drawingml/2006/main"/>
        </p:blipFill>
        <p:spPr>
          <a:xfrm xmlns:a="http://schemas.openxmlformats.org/drawingml/2006/main">
            <a:off x="4392727" y="5867400"/>
            <a:ext cx="720497" cy="53340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6F2EFD-6A2C-43D4-9F0A-6EA84DB1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791200"/>
            <a:ext cx="2457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7"/>
            </a:solidFill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17de8babf4dd2"/>
          <a:stretch xmlns:a="http://schemas.openxmlformats.org/drawingml/2006/main"/>
        </p:blipFill>
        <p:spPr>
          <a:xfrm xmlns:a="http://schemas.openxmlformats.org/drawingml/2006/main">
            <a:off x="6216361" y="5867400"/>
            <a:ext cx="2216727" cy="53340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656EE2-09CF-4A1E-BDEB-AE1F1072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791200"/>
            <a:ext cx="2457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7"/>
            </a:solidFill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eaca87829b41cb"/>
          <a:stretch xmlns:a="http://schemas.openxmlformats.org/drawingml/2006/main"/>
        </p:blipFill>
        <p:spPr>
          <a:xfrm xmlns:a="http://schemas.openxmlformats.org/drawingml/2006/main">
            <a:off x="9280640" y="5867400"/>
            <a:ext cx="1231669" cy="533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8192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4708b19e304592"/>
          <a:srcRect xmlns:a="http://schemas.openxmlformats.org/drawingml/2006/main" l="0" t="40132" r="0" b="401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500" y="762000"/>
            <a:ext cx="10287000" cy="233362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FFBDFF-4EA0-4C67-8E56-DC4CD6A1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14500"/>
            <a:ext cx="20478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a2133b772749dd"/>
          <a:srcRect xmlns:a="http://schemas.openxmlformats.org/drawingml/2006/main" l="0" t="7774" r="0" b="77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24950" y="1790700"/>
            <a:ext cx="1895475" cy="1066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D16B85-0BF5-4ABE-A117-EBECC08E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4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F5F98"/>
                </a:solidFill>
              </a:defRPr>
            </a:pPr>
            <a:r>
              <a:rPr sz="975" b="1" i="0">
                <a:solidFill>
                  <a:srgbClr val="2F5F98"/>
                </a:solidFill>
              </a:rPr>
              <a:t>01 · MEDICINA OCUPACIONAL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8434C-44E6-4CCE-8FA8-21EAB822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71626"/>
                </a:solidFill>
              </a:defRPr>
            </a:pPr>
            <a:r>
              <a:rPr sz="2925" b="1" i="0">
                <a:solidFill>
                  <a:srgbClr val="071626"/>
                </a:solidFill>
              </a:rPr>
              <a:t>Cada etapa do vínculo com o trabalhador, no mesmo cuidado.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BC7E5E-D19E-44E9-9824-BB1B1669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29125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97786"/>
                </a:solidFill>
              </a:defRPr>
            </a:pPr>
            <a:r>
              <a:rPr sz="1200" b="0" i="0">
                <a:solidFill>
                  <a:srgbClr val="697786"/>
                </a:solidFill>
              </a:rPr>
              <a:t>A saúde ocupacional acompanha a jornada do colaborador e os riscos da função — do primeiro exame ao acompanhamento periódico.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CBA05A-2B0B-4C80-94BD-4B5C533C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00625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23E79"/>
                </a:solidFill>
              </a:defRPr>
            </a:pPr>
            <a:r>
              <a:rPr sz="825" b="0" i="0">
                <a:solidFill>
                  <a:srgbClr val="123E79"/>
                </a:solidFill>
              </a:rPr>
              <a:t>PCMSO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164EA-03F3-4B20-9EBD-D8A53611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00625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23E79"/>
                </a:solidFill>
              </a:defRPr>
            </a:pPr>
            <a:r>
              <a:rPr sz="825" b="0" i="0">
                <a:solidFill>
                  <a:srgbClr val="123E79"/>
                </a:solidFill>
              </a:rPr>
              <a:t>Admissional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01FCDB-429F-492D-ABE1-AE662846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00625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23E79"/>
                </a:solidFill>
              </a:defRPr>
            </a:pPr>
            <a:r>
              <a:rPr sz="825" b="0" i="0">
                <a:solidFill>
                  <a:srgbClr val="123E79"/>
                </a:solidFill>
              </a:rPr>
              <a:t>Demissional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1B857D-44AF-4E90-BACF-36905ADF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000625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23E79"/>
                </a:solidFill>
              </a:defRPr>
            </a:pPr>
            <a:r>
              <a:rPr sz="825" b="0" i="0">
                <a:solidFill>
                  <a:srgbClr val="123E79"/>
                </a:solidFill>
              </a:rPr>
              <a:t>Periódico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D4E220-FA4D-42D9-BAA5-33690F0E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86375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23E79"/>
                </a:solidFill>
              </a:defRPr>
            </a:pPr>
            <a:r>
              <a:rPr sz="825" b="0" i="0">
                <a:solidFill>
                  <a:srgbClr val="123E79"/>
                </a:solidFill>
              </a:rPr>
              <a:t>Retorno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073DEF-7BC6-4F34-A0A4-D2B4FFAE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86375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23E79"/>
                </a:solidFill>
              </a:defRPr>
            </a:pPr>
            <a:r>
              <a:rPr sz="825" b="0" i="0">
                <a:solidFill>
                  <a:srgbClr val="123E79"/>
                </a:solidFill>
              </a:rPr>
              <a:t>Mudança de função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F774C2-3354-490C-92AF-3E8AD8F0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86375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23E79"/>
                </a:solidFill>
              </a:defRPr>
            </a:pPr>
            <a:r>
              <a:rPr sz="825" b="0" i="0">
                <a:solidFill>
                  <a:srgbClr val="123E79"/>
                </a:solidFill>
              </a:rPr>
              <a:t>ASO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B8EC74-7813-4324-9F79-20582A33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86375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23E79"/>
                </a:solidFill>
              </a:defRPr>
            </a:pPr>
            <a:r>
              <a:rPr sz="825" b="0" i="0">
                <a:solidFill>
                  <a:srgbClr val="123E79"/>
                </a:solidFill>
              </a:rPr>
              <a:t>Complementares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1ED4DF-CE91-41AC-9DEB-DCA186A9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614081-775D-482D-97F2-BF8CA337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53125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97786"/>
                </a:solidFill>
              </a:defRPr>
            </a:pPr>
            <a:r>
              <a:rPr sz="975" b="0" i="0">
                <a:solidFill>
                  <a:srgbClr val="697786"/>
                </a:solidFill>
              </a:rPr>
              <a:t>PCMSO: monitoramento dos riscos ocupacionais. Exames laboratoriais, audiometria, espirometria e outros complementares são definidos conforme o programa e a função.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C632C8-D216-4AAD-AB88-167A22D1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722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F5F98"/>
                </a:solidFill>
              </a:defRPr>
            </a:pPr>
            <a:r>
              <a:rPr sz="825" b="1" i="0">
                <a:solidFill>
                  <a:srgbClr val="2F5F98"/>
                </a:solidFill>
              </a:rPr>
              <a:t>Medicina ocupacional</a:t>
            </a:r>
          </a:p>
        </p:txBody>
      </p:sp>
    </p:spTree>
    <p:extLst>
      <p:ext uri="{BB962C8B-B14F-4D97-AF65-F5344CB8AC3E}">
        <p14:creationId xmlns:p14="http://schemas.microsoft.com/office/powerpoint/2010/main" val="11601632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5F6FEB-765F-45B7-A203-029EA7FF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4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5C0D3"/>
                </a:solidFill>
              </a:defRPr>
            </a:pPr>
            <a:r>
              <a:rPr sz="975" b="1" i="0">
                <a:solidFill>
                  <a:srgbClr val="A5C0D3"/>
                </a:solidFill>
              </a:rPr>
              <a:t>02 · SEGURANÇA DO TRABALHO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8644AC-0A4D-469B-8901-D438DF99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6680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FFFFFF"/>
                </a:solidFill>
              </a:defRPr>
            </a:pPr>
            <a:r>
              <a:rPr sz="3225" b="1" i="0">
                <a:solidFill>
                  <a:srgbClr val="FFFFFF"/>
                </a:solidFill>
              </a:rPr>
              <a:t>Documentos que refletem a operação real.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8F2C44-18FB-435C-82AD-E0E259B7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33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EBBC6"/>
                </a:solidFill>
              </a:defRPr>
            </a:pPr>
            <a:r>
              <a:rPr sz="1275" b="0" i="0">
                <a:solidFill>
                  <a:srgbClr val="AEBBC6"/>
                </a:solidFill>
              </a:rPr>
              <a:t>Mais do que preencher modelos, é preciso entender os riscos, as funções, os ambientes e as mudanças que acontecem no dia a dia.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80AD9D-EA98-44B4-A7DD-BC91D88A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495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5371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0C24E-7674-463C-8B73-466082FB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14600"/>
            <a:ext cx="2476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9C0D8"/>
                </a:solidFill>
              </a:defRPr>
            </a:pPr>
            <a:r>
              <a:rPr sz="750" b="1" i="0">
                <a:solidFill>
                  <a:srgbClr val="A9C0D8"/>
                </a:solidFill>
              </a:rPr>
              <a:t>FORMAÇÃO EM SST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A9577-A2C6-46FD-BCF1-00E4C0E1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404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Todas as NRs aplicáveis à operação.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8C67FD-05D2-40FC-94D1-EB4612BF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6227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C6D0D8"/>
                </a:solidFill>
              </a:defRPr>
            </a:pPr>
            <a:r>
              <a:rPr sz="825" b="0" i="0">
                <a:solidFill>
                  <a:srgbClr val="C6D0D8"/>
                </a:solidFill>
              </a:rPr>
              <a:t>Treinamentos teóricos e práticos, nas modalidades presencial e EAD, conforme o perfil da empresa.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f30f7ff5764022"/>
          <a:srcRect xmlns:a="http://schemas.openxmlformats.org/drawingml/2006/main" l="0" t="42780" r="0" b="427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500" y="3371850"/>
            <a:ext cx="10287000" cy="9906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D6124-1E14-482C-8CE3-713E0D02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A9C0D8"/>
                </a:solidFill>
              </a:defRPr>
            </a:pPr>
            <a:r>
              <a:rPr sz="1425" b="1" i="0">
                <a:solidFill>
                  <a:srgbClr val="A9C0D8"/>
                </a:solidFill>
              </a:rPr>
              <a:t>PGR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7BC888-E96D-4DF0-8E59-75E00CEB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4342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C6D0D8"/>
                </a:solidFill>
              </a:defRPr>
            </a:pPr>
            <a:r>
              <a:rPr sz="975" b="0" i="0">
                <a:solidFill>
                  <a:srgbClr val="C6D0D8"/>
                </a:solidFill>
              </a:rPr>
              <a:t>Inventário de riscos e plano de ação.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3ACE62-3046-4A1D-B656-2930B4DF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96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71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B8D422-074D-4B36-A77A-55A043CF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A9C0D8"/>
                </a:solidFill>
              </a:defRPr>
            </a:pPr>
            <a:r>
              <a:rPr sz="1425" b="1" i="0">
                <a:solidFill>
                  <a:srgbClr val="A9C0D8"/>
                </a:solidFill>
              </a:rPr>
              <a:t>LTCAT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D46391-C855-45BA-875E-AA6135F0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2442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C6D0D8"/>
                </a:solidFill>
              </a:defRPr>
            </a:pPr>
            <a:r>
              <a:rPr sz="975" b="0" i="0">
                <a:solidFill>
                  <a:srgbClr val="C6D0D8"/>
                </a:solidFill>
              </a:rPr>
              <a:t>Laudos e avaliação das condições ambientais.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52DDD9-3C01-4683-9AD5-0B3967B5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006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71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1292E5-38D5-4CFD-98AA-A535C50F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768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A9C0D8"/>
                </a:solidFill>
              </a:defRPr>
            </a:pPr>
            <a:r>
              <a:rPr sz="1425" b="1" i="0">
                <a:solidFill>
                  <a:srgbClr val="A9C0D8"/>
                </a:solidFill>
              </a:rPr>
              <a:t>PGRS · PGRSS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B8794-5D54-43C9-98FE-5B823E83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0542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C6D0D8"/>
                </a:solidFill>
              </a:defRPr>
            </a:pPr>
            <a:r>
              <a:rPr sz="975" b="0" i="0">
                <a:solidFill>
                  <a:srgbClr val="C6D0D8"/>
                </a:solidFill>
              </a:rPr>
              <a:t>Programas de gerenciamento de resíduos sólidos e de serviços de saúde.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E57278-2D50-4D0A-95A5-812B1811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816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71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85F063-A068-4DBF-8A87-E7128253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A9C0D8"/>
                </a:solidFill>
              </a:defRPr>
            </a:pPr>
            <a:r>
              <a:rPr sz="1425" b="1" i="0">
                <a:solidFill>
                  <a:srgbClr val="A9C0D8"/>
                </a:solidFill>
              </a:rPr>
              <a:t>NRs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7155EF-5DB2-4187-8757-1048760D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8642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C6D0D8"/>
                </a:solidFill>
              </a:defRPr>
            </a:pPr>
            <a:r>
              <a:rPr sz="975" b="0" i="0">
                <a:solidFill>
                  <a:srgbClr val="C6D0D8"/>
                </a:solidFill>
              </a:rPr>
              <a:t>Treinamentos de todas as NRs aplicáveis, CIPA, ergonomia e prevenção.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2BAFCE-1EC8-4FF6-A7D4-25346AEF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626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71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F2C803-EB8D-4E37-B05A-8FF0624B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388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A9C0D8"/>
                </a:solidFill>
              </a:defRPr>
            </a:pPr>
            <a:r>
              <a:rPr sz="1425" b="1" i="0">
                <a:solidFill>
                  <a:srgbClr val="A9C0D8"/>
                </a:solidFill>
              </a:rPr>
              <a:t>Laudos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674CEB-A6D3-4D54-9D4D-C62DC031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6742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C6D0D8"/>
                </a:solidFill>
              </a:defRPr>
            </a:pPr>
            <a:r>
              <a:rPr sz="975" b="0" i="0">
                <a:solidFill>
                  <a:srgbClr val="C6D0D8"/>
                </a:solidFill>
              </a:rPr>
              <a:t>Insalubridade, periculosidade e apoio técnico.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939CFC-6443-4025-89B3-94397254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3436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71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CFB87A-3509-427A-8D25-5DA200E5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532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71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08C905-7279-446F-8AD9-D201770E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91300"/>
            <a:ext cx="809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9C0D8"/>
                </a:solidFill>
              </a:defRPr>
            </a:pPr>
            <a:r>
              <a:rPr sz="750" b="1" i="0">
                <a:solidFill>
                  <a:srgbClr val="A9C0D8"/>
                </a:solidFill>
              </a:rPr>
              <a:t>AVALIAÇÕES QUANTITATIVAS · poeiras · químicos · frio · calor · vibração · ruído</a:t>
            </a:r>
          </a:p>
        </p:txBody>
      </p:sp>
    </p:spTree>
    <p:extLst>
      <p:ext uri="{BB962C8B-B14F-4D97-AF65-F5344CB8AC3E}">
        <p14:creationId xmlns:p14="http://schemas.microsoft.com/office/powerpoint/2010/main" val="13856978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AF1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C938BA-D549-4DD0-9B7A-5A47A903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4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F5F98"/>
                </a:solidFill>
              </a:defRPr>
            </a:pPr>
            <a:r>
              <a:rPr sz="975" b="1" i="0">
                <a:solidFill>
                  <a:srgbClr val="2F5F98"/>
                </a:solidFill>
              </a:rPr>
              <a:t>03 · ESOCIAL SST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0F11B-0400-400A-B492-A7DEFE68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62050"/>
            <a:ext cx="666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75" b="1" i="0">
                <a:solidFill>
                  <a:srgbClr val="071626"/>
                </a:solidFill>
              </a:defRPr>
            </a:pPr>
            <a:r>
              <a:rPr sz="3375" b="1" i="0">
                <a:solidFill>
                  <a:srgbClr val="071626"/>
                </a:solidFill>
              </a:rPr>
              <a:t>Do exame ao eSocial, com rastreabilidade.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D074F-BE3A-4D9D-BEB5-D6C74FB8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97786"/>
                </a:solidFill>
              </a:defRPr>
            </a:pPr>
            <a:r>
              <a:rPr sz="1275" b="0" i="0">
                <a:solidFill>
                  <a:srgbClr val="697786"/>
                </a:solidFill>
              </a:rPr>
              <a:t>Quando as informações são organizadas desde a origem, o RH reduz retrabalho e consegue acompanhar o que foi enviado, o que falta e o que precisa de revisão.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17478-E8A3-46E8-A398-6BE9FBBA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857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C010D-475D-44BF-BB87-81E92778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623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F5F98"/>
                </a:solidFill>
              </a:defRPr>
            </a:pPr>
            <a:r>
              <a:rPr sz="825" b="1" i="0">
                <a:solidFill>
                  <a:srgbClr val="2F5F98"/>
                </a:solidFill>
              </a:rPr>
              <a:t>ENTRADA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AB25A7-8B75-4A7E-97A4-265049EC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43375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71626"/>
                </a:solidFill>
              </a:defRPr>
            </a:pPr>
            <a:r>
              <a:rPr sz="1725" b="1" i="0">
                <a:solidFill>
                  <a:srgbClr val="071626"/>
                </a:solidFill>
              </a:rPr>
              <a:t>Exame + risco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E2100A-1A8B-4B22-8408-6864D0A6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10125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97786"/>
                </a:solidFill>
              </a:defRPr>
            </a:pPr>
            <a:r>
              <a:rPr sz="975" b="0" i="0">
                <a:solidFill>
                  <a:srgbClr val="697786"/>
                </a:solidFill>
              </a:rPr>
              <a:t>dados da função e do trabalhador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B8424B-718D-4229-93C0-0D128A76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191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2F5F98"/>
                </a:solidFill>
              </a:defRPr>
            </a:pPr>
            <a:r>
              <a:rPr sz="2100" b="0" i="0">
                <a:solidFill>
                  <a:srgbClr val="2F5F98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354FD-6A95-4EFE-846F-7D9659B8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24250"/>
            <a:ext cx="2857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5F9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CB4BD2-07D9-4A36-A7F7-EC557B3F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7623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F5F98"/>
                </a:solidFill>
              </a:defRPr>
            </a:pPr>
            <a:r>
              <a:rPr sz="825" b="1" i="0">
                <a:solidFill>
                  <a:srgbClr val="2F5F98"/>
                </a:solidFill>
              </a:rPr>
              <a:t>S-2240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7A347C-FCFD-4BE9-ACA3-6E286109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143375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71626"/>
                </a:solidFill>
              </a:defRPr>
            </a:pPr>
            <a:r>
              <a:rPr sz="1725" b="1" i="0">
                <a:solidFill>
                  <a:srgbClr val="071626"/>
                </a:solidFill>
              </a:rPr>
              <a:t>Condições ambientais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8B94E5-0593-46A9-B279-232DA960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810125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97786"/>
                </a:solidFill>
              </a:defRPr>
            </a:pPr>
            <a:r>
              <a:rPr sz="975" b="0" i="0">
                <a:solidFill>
                  <a:srgbClr val="697786"/>
                </a:solidFill>
              </a:rPr>
              <a:t>exposição e perfil previdenciário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A79AEC-4470-446E-82CD-814CE932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191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2F5F98"/>
                </a:solidFill>
              </a:defRPr>
            </a:pPr>
            <a:r>
              <a:rPr sz="2100" b="0" i="0">
                <a:solidFill>
                  <a:srgbClr val="2F5F98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D9C138-125C-4675-B7F3-DEB66D3D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2857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0D1F43-F488-4E0E-853F-476EBF5A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623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F5F98"/>
                </a:solidFill>
              </a:defRPr>
            </a:pPr>
            <a:r>
              <a:rPr sz="825" b="1" i="0">
                <a:solidFill>
                  <a:srgbClr val="2F5F98"/>
                </a:solidFill>
              </a:rPr>
              <a:t>S-2220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B62FF0-DF2C-4777-92FD-8C709DC5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43375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71626"/>
                </a:solidFill>
              </a:defRPr>
            </a:pPr>
            <a:r>
              <a:rPr sz="1725" b="1" i="0">
                <a:solidFill>
                  <a:srgbClr val="071626"/>
                </a:solidFill>
              </a:rPr>
              <a:t>Monitoramento da saúde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5440C0-656F-4A68-B74F-4BC2B170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10125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97786"/>
                </a:solidFill>
              </a:defRPr>
            </a:pPr>
            <a:r>
              <a:rPr sz="975" b="0" i="0">
                <a:solidFill>
                  <a:srgbClr val="697786"/>
                </a:solidFill>
              </a:rPr>
              <a:t>ASO e exames ocupacionais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BF8AFF-043D-4F29-AE4D-98FFD420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697786"/>
                </a:solidFill>
              </a:defRPr>
            </a:pPr>
            <a:r>
              <a:rPr sz="1275" b="1" i="0">
                <a:solidFill>
                  <a:srgbClr val="697786"/>
                </a:solidFill>
              </a:rPr>
              <a:t>Processo, conferência e suporte ao RH para a rotina não depender de uma única pessoa.</a:t>
            </a:r>
          </a:p>
        </p:txBody>
      </p:sp>
    </p:spTree>
    <p:extLst>
      <p:ext uri="{BB962C8B-B14F-4D97-AF65-F5344CB8AC3E}">
        <p14:creationId xmlns:p14="http://schemas.microsoft.com/office/powerpoint/2010/main" val="8500639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5B97E5-9F25-411C-8720-2D7D46B9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4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F5F98"/>
                </a:solidFill>
              </a:defRPr>
            </a:pPr>
            <a:r>
              <a:rPr sz="975" b="1" i="0">
                <a:solidFill>
                  <a:srgbClr val="2F5F98"/>
                </a:solidFill>
              </a:rPr>
              <a:t>ESTRUTURA PRÓPRIA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AECEC-033D-43EA-BF70-43102FB3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62050"/>
            <a:ext cx="5524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71626"/>
                </a:solidFill>
              </a:defRPr>
            </a:pPr>
            <a:r>
              <a:rPr sz="3000" b="1" i="0">
                <a:solidFill>
                  <a:srgbClr val="071626"/>
                </a:solidFill>
              </a:rPr>
              <a:t>Uma unidade que reduz deslocamentos e ruído operacional.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E66D66-22A5-4290-BED0-3109A958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4317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97786"/>
                </a:solidFill>
              </a:defRPr>
            </a:pPr>
            <a:r>
              <a:rPr sz="1200" b="0" i="0">
                <a:solidFill>
                  <a:srgbClr val="697786"/>
                </a:solidFill>
              </a:rPr>
              <a:t>No Centro Histórico de São Paulo, a SERMST reúne atendimento clínico, laboratório e exames complementares em um mesmo endereço — com definição conforme o PCMSO e os riscos da função.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1B17C0-6825-473A-A9AF-63C1A6D8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4762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3"/>
          </a:solidFill>
          <a:ln xmlns:a="http://schemas.openxmlformats.org/drawingml/2006/main" w="9525">
            <a:solidFill>
              <a:srgbClr val="C9D3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32B52-C256-49E3-96FD-E57140E4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766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2F5F98"/>
                </a:solidFill>
              </a:defRPr>
            </a:pPr>
            <a:r>
              <a:rPr sz="750" b="1" i="0">
                <a:solidFill>
                  <a:srgbClr val="2F5F98"/>
                </a:solidFill>
              </a:rPr>
              <a:t>EXAMES COMPLEMENTARES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614E7-27E5-4D6E-9601-E56EDDBA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05225"/>
            <a:ext cx="433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626"/>
                </a:solidFill>
              </a:defRPr>
            </a:pPr>
            <a:r>
              <a:rPr sz="1275" b="1" i="0">
                <a:solidFill>
                  <a:srgbClr val="071626"/>
                </a:solidFill>
              </a:rPr>
              <a:t>Todos os necessários para o perfil da função e do risco.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FE80C1-FB73-40A0-8CD1-54C5D9C7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90975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97786"/>
                </a:solidFill>
              </a:defRPr>
            </a:pPr>
            <a:r>
              <a:rPr sz="825" b="0" i="0">
                <a:solidFill>
                  <a:srgbClr val="697786"/>
                </a:solidFill>
              </a:rPr>
              <a:t>Mais de 500 análises laboratoriais · imagem · RX · teste ergométrico · toxicológico · avaliação psicossocial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DAD044-EAA5-4CA7-8E19-7664318D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23E79"/>
                </a:solidFill>
              </a:defRPr>
            </a:pPr>
            <a:r>
              <a:rPr sz="975" b="0" i="0">
                <a:solidFill>
                  <a:srgbClr val="123E79"/>
                </a:solidFill>
              </a:rPr>
              <a:t>Laboratório integrado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6C651D-2A2D-4831-8956-3394352F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67275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76F706-6213-40C0-9CCD-2C05672A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23E79"/>
                </a:solidFill>
              </a:defRPr>
            </a:pPr>
            <a:r>
              <a:rPr sz="975" b="0" i="0">
                <a:solidFill>
                  <a:srgbClr val="123E79"/>
                </a:solidFill>
              </a:rPr>
              <a:t>Audiometria · ECG · EEG · e outros conforme a necessidade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35F67C-4E05-4673-9487-907F2AC0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48275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88E87E-8CEA-4E0E-BFD0-89790CD4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911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23E79"/>
                </a:solidFill>
              </a:defRPr>
            </a:pPr>
            <a:r>
              <a:rPr sz="975" b="0" i="0">
                <a:solidFill>
                  <a:srgbClr val="123E79"/>
                </a:solidFill>
              </a:rPr>
              <a:t>Atendimento centralizado · in company para rotinas selecionadas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4B71D6-8A10-4E9B-9E12-6C0D2CD4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29275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D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73b7166ae64050"/>
          <a:srcRect xmlns:a="http://schemas.openxmlformats.org/drawingml/2006/main" l="12931" t="0" r="129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028700"/>
            <a:ext cx="4095750" cy="4143375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2d50d0cce049f4"/>
          <a:srcRect xmlns:a="http://schemas.openxmlformats.org/drawingml/2006/main" l="28261" t="0" r="282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63250" y="1028700"/>
            <a:ext cx="762000" cy="1314450"/>
          </a:xfrm>
          <a:prstGeom xmlns:a="http://schemas.openxmlformats.org/drawingml/2006/main" prst="rect">
            <a:avLst/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eb58ed280d44bb"/>
          <a:srcRect xmlns:a="http://schemas.openxmlformats.org/drawingml/2006/main" l="28261" t="0" r="282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63250" y="2457450"/>
            <a:ext cx="762000" cy="1314450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55125899d94665"/>
          <a:srcRect xmlns:a="http://schemas.openxmlformats.org/drawingml/2006/main" l="27793" t="0" r="277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63250" y="3886200"/>
            <a:ext cx="762000" cy="128587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F25CA2-028E-4D78-A552-AE3A3E0E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10200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97786"/>
                </a:solidFill>
              </a:defRPr>
            </a:pPr>
            <a:r>
              <a:rPr sz="750" b="0" i="0">
                <a:solidFill>
                  <a:srgbClr val="697786"/>
                </a:solidFill>
              </a:rPr>
              <a:t>Fotos oficiais do projeto e fotos públicas da galeria do Google Maps · consulta em 12/08/2026</a:t>
            </a:r>
          </a:p>
        </p:txBody>
      </p:sp>
    </p:spTree>
    <p:extLst>
      <p:ext uri="{BB962C8B-B14F-4D97-AF65-F5344CB8AC3E}">
        <p14:creationId xmlns:p14="http://schemas.microsoft.com/office/powerpoint/2010/main" val="18978516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F5F9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7A4612-7DD0-4B3A-8456-94AD735C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4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5C0D3"/>
                </a:solidFill>
              </a:defRPr>
            </a:pPr>
            <a:r>
              <a:rPr sz="975" b="1" i="0">
                <a:solidFill>
                  <a:srgbClr val="A5C0D3"/>
                </a:solidFill>
              </a:rPr>
              <a:t>COMO COMEÇAMOS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126D3-AD70-4E21-86DF-A0573A90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62050"/>
            <a:ext cx="628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O atendimento começa entendendo o cenário.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6AB00-C922-40F2-AB03-1AB27847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7E4EF"/>
                </a:solidFill>
              </a:defRPr>
            </a:pPr>
            <a:r>
              <a:rPr sz="1275" b="0" i="0">
                <a:solidFill>
                  <a:srgbClr val="D7E4EF"/>
                </a:solidFill>
              </a:rPr>
              <a:t>O comercial organiza o próximo passo a partir do porte, da operação, da urgência e do que a empresa já possui.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38A15-B456-4CE9-A04F-B8716AB4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00125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772"/>
          </a:solidFill>
          <a:ln xmlns:a="http://schemas.openxmlformats.org/drawingml/2006/main" w="9525">
            <a:solidFill>
              <a:srgbClr val="78A2C9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88e7b6541e4adf"/>
          <a:srcRect xmlns:a="http://schemas.openxmlformats.org/drawingml/2006/main" l="0" t="17188" r="0" b="17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53400" y="1057275"/>
            <a:ext cx="2743200" cy="1200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B1FDCE-5D4B-4277-AA1E-217A97A9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6D7E6"/>
                </a:solidFill>
              </a:defRPr>
            </a:pPr>
            <a:r>
              <a:rPr sz="825" b="1" i="0">
                <a:solidFill>
                  <a:srgbClr val="C6D7E6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93591B-9254-498B-9948-AE444C13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190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2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86B03F-BC30-48D8-829F-E129978C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Diagnóstico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D0EE56-C2A6-4537-83FD-BA396C4F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E4EF"/>
                </a:solidFill>
              </a:defRPr>
            </a:pPr>
            <a:r>
              <a:rPr sz="975" b="0" i="0">
                <a:solidFill>
                  <a:srgbClr val="D7E4EF"/>
                </a:solidFill>
              </a:rPr>
              <a:t>Entendemos o momento, os riscos e as prioridades.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338345-5EF0-4EE9-AFAF-BA7B84ED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14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6D7E6"/>
                </a:solidFill>
              </a:defRPr>
            </a:pPr>
            <a:r>
              <a:rPr sz="825" b="1" i="0">
                <a:solidFill>
                  <a:srgbClr val="C6D7E6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EA8957-35C1-4819-AB8B-1734DE38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95750"/>
            <a:ext cx="190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2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DAD8FA-B4BD-479E-B069-4CAED73D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338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Escopo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33AA99-FB6F-40CD-BB21-53FD2237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6250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E4EF"/>
                </a:solidFill>
              </a:defRPr>
            </a:pPr>
            <a:r>
              <a:rPr sz="975" b="0" i="0">
                <a:solidFill>
                  <a:srgbClr val="D7E4EF"/>
                </a:solidFill>
              </a:rPr>
              <a:t>Definimos exames, documentos e responsabilidades.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630B39-F831-4438-B586-E87586E4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6D7E6"/>
                </a:solidFill>
              </a:defRPr>
            </a:pPr>
            <a:r>
              <a:rPr sz="825" b="1" i="0">
                <a:solidFill>
                  <a:srgbClr val="C6D7E6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CC7E57-7256-4583-86A0-9690A070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190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2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8010FD-1726-499E-9685-06A3D07F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338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Execução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E52E16-FC44-4689-A889-5CC595C2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E4EF"/>
                </a:solidFill>
              </a:defRPr>
            </a:pPr>
            <a:r>
              <a:rPr sz="975" b="0" i="0">
                <a:solidFill>
                  <a:srgbClr val="D7E4EF"/>
                </a:solidFill>
              </a:rPr>
              <a:t>Colocamos a rotina em movimento com equipe técnica.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C7D0F5-527B-4CE8-B510-6E4F792F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14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6D7E6"/>
                </a:solidFill>
              </a:defRPr>
            </a:pPr>
            <a:r>
              <a:rPr sz="825" b="1" i="0">
                <a:solidFill>
                  <a:srgbClr val="C6D7E6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6DAD91-5ED9-4FC0-8CC6-351C57AB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0"/>
            <a:ext cx="190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2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2566B9-1629-4C90-8D8C-B46E9A12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338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Acompanhamento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966C19-90BD-4468-BC3D-3BBDEE17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6250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E4EF"/>
                </a:solidFill>
              </a:defRPr>
            </a:pPr>
            <a:r>
              <a:rPr sz="975" b="0" i="0">
                <a:solidFill>
                  <a:srgbClr val="D7E4EF"/>
                </a:solidFill>
              </a:rPr>
              <a:t>Seguimos prazos, pendências e próximos ciclos.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E150D0-4D6A-4A21-A189-7BB7E5CF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48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Sem serviço genérico. Sem começar pela solução errada.</a:t>
            </a:r>
          </a:p>
        </p:txBody>
      </p:sp>
    </p:spTree>
    <p:extLst>
      <p:ext uri="{BB962C8B-B14F-4D97-AF65-F5344CB8AC3E}">
        <p14:creationId xmlns:p14="http://schemas.microsoft.com/office/powerpoint/2010/main" val="19840167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CCF877-CBAB-43C3-BD7B-FF572C1E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4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F5F98"/>
                </a:solidFill>
              </a:defRPr>
            </a:pPr>
            <a:r>
              <a:rPr sz="975" b="1" i="0">
                <a:solidFill>
                  <a:srgbClr val="2F5F98"/>
                </a:solidFill>
              </a:rPr>
              <a:t>O QUE MUDA NA PRÁTICA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8AD7E-4CBA-4F4A-9ED1-FF511A19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62050"/>
            <a:ext cx="781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071626"/>
                </a:solidFill>
              </a:defRPr>
            </a:pPr>
            <a:r>
              <a:rPr sz="3225" b="1" i="0">
                <a:solidFill>
                  <a:srgbClr val="071626"/>
                </a:solidFill>
              </a:rPr>
              <a:t>Quando o processo está conectado, o RH ganha espaço para decidir.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04341-2B4C-4D8C-890E-0D6104C0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3476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5F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6EC20-7D02-410B-B1F1-36B6A382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95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F5F98"/>
                </a:solidFill>
              </a:defRPr>
            </a:pPr>
            <a:r>
              <a:rPr sz="825" b="1" i="0">
                <a:solidFill>
                  <a:srgbClr val="2F5F98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561CC-D257-4168-A73A-75A07AE3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480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71626"/>
                </a:solidFill>
              </a:defRPr>
            </a:pPr>
            <a:r>
              <a:rPr sz="2250" b="1" i="0">
                <a:solidFill>
                  <a:srgbClr val="071626"/>
                </a:solidFill>
              </a:rPr>
              <a:t>Para o RH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688F6E-C119-49DB-8EA2-CA0FFA0A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71950"/>
            <a:ext cx="300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97786"/>
                </a:solidFill>
              </a:defRPr>
            </a:pPr>
            <a:r>
              <a:rPr sz="1050" b="0" i="0">
                <a:solidFill>
                  <a:srgbClr val="697786"/>
                </a:solidFill>
              </a:rPr>
              <a:t>+  Menos retrabalho com ASO e documentos.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86E93A-BD47-4DCA-8AEC-E3CA0BE2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48175"/>
            <a:ext cx="300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97786"/>
                </a:solidFill>
              </a:defRPr>
            </a:pPr>
            <a:r>
              <a:rPr sz="1050" b="0" i="0">
                <a:solidFill>
                  <a:srgbClr val="697786"/>
                </a:solidFill>
              </a:rPr>
              <a:t>+  Mais clareza sobre prazos e pendências.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49A5D1-AFAC-4D87-9496-0AB0394C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24400"/>
            <a:ext cx="300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97786"/>
                </a:solidFill>
              </a:defRPr>
            </a:pPr>
            <a:r>
              <a:rPr sz="1050" b="0" i="0">
                <a:solidFill>
                  <a:srgbClr val="697786"/>
                </a:solidFill>
              </a:rPr>
              <a:t>+  Um fluxo para acompanhar admissões e desligamentos.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F1B625-E78F-49A1-930C-16BFF24F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3476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3E7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B05C6C-048E-4853-A438-C7ED8270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095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F5F98"/>
                </a:solidFill>
              </a:defRPr>
            </a:pPr>
            <a:r>
              <a:rPr sz="825" b="1" i="0">
                <a:solidFill>
                  <a:srgbClr val="2F5F9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1066CC-A264-4F42-9E13-1464D94C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6480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71626"/>
                </a:solidFill>
              </a:defRPr>
            </a:pPr>
            <a:r>
              <a:rPr sz="2250" b="1" i="0">
                <a:solidFill>
                  <a:srgbClr val="071626"/>
                </a:solidFill>
              </a:rPr>
              <a:t>Para gestores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42BE40-5E38-43B3-93EF-01E32139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171950"/>
            <a:ext cx="300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97786"/>
                </a:solidFill>
              </a:defRPr>
            </a:pPr>
            <a:r>
              <a:rPr sz="1050" b="0" i="0">
                <a:solidFill>
                  <a:srgbClr val="697786"/>
                </a:solidFill>
              </a:rPr>
              <a:t>+  Decisões apoiadas por leitura técnica.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0571CF-A597-41FA-BC08-F2803356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448175"/>
            <a:ext cx="300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97786"/>
                </a:solidFill>
              </a:defRPr>
            </a:pPr>
            <a:r>
              <a:rPr sz="1050" b="0" i="0">
                <a:solidFill>
                  <a:srgbClr val="697786"/>
                </a:solidFill>
              </a:rPr>
              <a:t>+  Documentos coerentes com a operação.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8B73D7-2AAA-42CA-A60D-6B1C66BD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724400"/>
            <a:ext cx="300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97786"/>
                </a:solidFill>
              </a:defRPr>
            </a:pPr>
            <a:r>
              <a:rPr sz="1050" b="0" i="0">
                <a:solidFill>
                  <a:srgbClr val="697786"/>
                </a:solidFill>
              </a:rPr>
              <a:t>+  Mais previsibilidade para lidar com mudanças.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A346FD-78AD-434A-8D00-21494ABC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578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97786"/>
                </a:solidFill>
              </a:defRPr>
            </a:pPr>
            <a:r>
              <a:rPr sz="1350" b="1" i="0">
                <a:solidFill>
                  <a:srgbClr val="697786"/>
                </a:solidFill>
              </a:rPr>
              <a:t>O objetivo não é acumular documentos. É deixar a rotina mais fácil de governar.</a:t>
            </a:r>
          </a:p>
        </p:txBody>
      </p:sp>
    </p:spTree>
    <p:extLst>
      <p:ext uri="{BB962C8B-B14F-4D97-AF65-F5344CB8AC3E}">
        <p14:creationId xmlns:p14="http://schemas.microsoft.com/office/powerpoint/2010/main" val="18769602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E144BF-B3C6-40BB-8F9C-6C4DA95D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4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5C0D3"/>
                </a:solidFill>
              </a:defRPr>
            </a:pPr>
            <a:r>
              <a:rPr sz="975" b="1" i="0">
                <a:solidFill>
                  <a:srgbClr val="A5C0D3"/>
                </a:solidFill>
              </a:rPr>
              <a:t>ATENDIMENTO NACIONAL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04A208-48F5-4161-99A8-404D61C0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62050"/>
            <a:ext cx="5810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SST que acompanha sua empresa em todo o Brasil.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DB3BF3-12C6-4CB5-8EA1-29F5370B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538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EBBC6"/>
                </a:solidFill>
              </a:defRPr>
            </a:pPr>
            <a:r>
              <a:rPr sz="1275" b="0" i="0">
                <a:solidFill>
                  <a:srgbClr val="AEBBC6"/>
                </a:solidFill>
              </a:rPr>
              <a:t>Atendimento em nível nacional, com gestão centralizada e apoio local conforme a distribuição das unidades, equipes e riscos da sua operação.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0F2EE9-6AA9-4DB5-AA1C-4426FE5A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9C0D8"/>
                </a:solidFill>
              </a:defRPr>
            </a:pPr>
            <a:r>
              <a:rPr sz="1350" b="1" i="0">
                <a:solidFill>
                  <a:srgbClr val="A9C0D8"/>
                </a:solidFill>
              </a:rPr>
              <a:t>+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C471F8-F877-4925-9D28-5B285FAC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099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FFFFF"/>
                </a:solidFill>
              </a:defRPr>
            </a:pPr>
            <a:r>
              <a:rPr sz="1125" b="0" i="0">
                <a:solidFill>
                  <a:srgbClr val="FFFFFF"/>
                </a:solidFill>
              </a:rPr>
              <a:t>Atendimento em nível nacional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14FA7B-C50B-4EAE-9401-65738BB9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9572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71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813BE3-9ECE-42B1-8E62-23176AD0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9C0D8"/>
                </a:solidFill>
              </a:defRPr>
            </a:pPr>
            <a:r>
              <a:rPr sz="1350" b="1" i="0">
                <a:solidFill>
                  <a:srgbClr val="A9C0D8"/>
                </a:solidFill>
              </a:rPr>
              <a:t>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49F226-333A-4623-B811-0AAB0413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671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FFFFF"/>
                </a:solidFill>
              </a:defRPr>
            </a:pPr>
            <a:r>
              <a:rPr sz="1125" b="0" i="0">
                <a:solidFill>
                  <a:srgbClr val="FFFFFF"/>
                </a:solidFill>
              </a:rPr>
              <a:t>Gestão centralizada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2F15E3-8CD3-4212-B4B8-9050C1F0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5292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71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B829A5-ACA0-431C-A6A8-C743B749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9C0D8"/>
                </a:solidFill>
              </a:defRPr>
            </a:pPr>
            <a:r>
              <a:rPr sz="1350" b="1" i="0">
                <a:solidFill>
                  <a:srgbClr val="A9C0D8"/>
                </a:solidFill>
              </a:rPr>
              <a:t>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0CB780-57DB-41E1-B6DD-D3B84B8F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243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FFFFF"/>
                </a:solidFill>
              </a:defRPr>
            </a:pPr>
            <a:r>
              <a:rPr sz="1125" b="0" i="0">
                <a:solidFill>
                  <a:srgbClr val="FFFFFF"/>
                </a:solidFill>
              </a:rPr>
              <a:t>Apoio local conforme a operação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3ACBD4-57B0-42B7-9FF8-64606EC4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71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6e807e296a4079"/>
          <a:stretch xmlns:a="http://schemas.openxmlformats.org/drawingml/2006/main"/>
        </p:blipFill>
        <p:spPr>
          <a:xfrm xmlns:a="http://schemas.openxmlformats.org/drawingml/2006/main">
            <a:off x="6479381" y="1628775"/>
            <a:ext cx="4757738" cy="317182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DAF13B-1593-4E0A-867A-410E4B93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912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9C0D8"/>
                </a:solidFill>
              </a:defRPr>
            </a:pPr>
            <a:r>
              <a:rPr sz="825" b="1" i="0">
                <a:solidFill>
                  <a:srgbClr val="A9C0D8"/>
                </a:solidFill>
              </a:rPr>
              <a:t>Abrangência</a:t>
            </a:r>
          </a:p>
        </p:txBody>
      </p:sp>
    </p:spTree>
    <p:extLst>
      <p:ext uri="{BB962C8B-B14F-4D97-AF65-F5344CB8AC3E}">
        <p14:creationId xmlns:p14="http://schemas.microsoft.com/office/powerpoint/2010/main" val="16046790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1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45FEC1-8550-4164-95F3-CE1105C3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4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F5F98"/>
                </a:solidFill>
              </a:defRPr>
            </a:pPr>
            <a:r>
              <a:rPr sz="975" b="1" i="0">
                <a:solidFill>
                  <a:srgbClr val="2F5F98"/>
                </a:solidFill>
              </a:rPr>
              <a:t>RESPONSABILIDADE TÉCNICA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2E25A9-9DC4-4EBC-B07B-4C9A30D6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62050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71626"/>
                </a:solidFill>
              </a:defRPr>
            </a:pPr>
            <a:r>
              <a:rPr sz="3150" b="1" i="0">
                <a:solidFill>
                  <a:srgbClr val="071626"/>
                </a:solidFill>
              </a:rPr>
              <a:t>Experiência também é saber quem responde tecnicamente.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FAF263-F5C9-4C9C-BC3B-88D7D8FD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97786"/>
                </a:solidFill>
              </a:defRPr>
            </a:pPr>
            <a:r>
              <a:rPr sz="1275" b="0" i="0">
                <a:solidFill>
                  <a:srgbClr val="697786"/>
                </a:solidFill>
              </a:rPr>
              <a:t>Aqui estão os responsáveis que estão à frente de toda a operação de saúde e segurança do trabalho.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b429c3271140cb"/>
          <a:stretch xmlns:a="http://schemas.openxmlformats.org/drawingml/2006/main"/>
        </p:blipFill>
        <p:spPr>
          <a:xfrm xmlns:a="http://schemas.openxmlformats.org/drawingml/2006/main">
            <a:off x="7372851" y="266700"/>
            <a:ext cx="4018547" cy="15906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FFB16-9C85-498E-B960-5BDDBA28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0502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71626"/>
                </a:solidFill>
              </a:defRPr>
            </a:pPr>
            <a:r>
              <a:rPr sz="1650" b="1" i="0">
                <a:solidFill>
                  <a:srgbClr val="071626"/>
                </a:solidFill>
              </a:rPr>
              <a:t>Wagner Rinaldin de Andrade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04F2B4-9F6A-4467-823C-9AE1B040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6697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97786"/>
                </a:solidFill>
              </a:defRPr>
            </a:pPr>
            <a:r>
              <a:rPr sz="788" b="0" i="0">
                <a:solidFill>
                  <a:srgbClr val="697786"/>
                </a:solidFill>
              </a:rPr>
              <a:t>Engenheiro de Segurança do Trabalho</a:t>
            </a:r>
          </a:p>
          <a:p xmlns:a="http://schemas.openxmlformats.org/drawingml/2006/main">
            <a:pPr algn="l">
              <a:defRPr sz="788" b="0" i="0">
                <a:solidFill>
                  <a:srgbClr val="697786"/>
                </a:solidFill>
              </a:defRPr>
            </a:pPr>
            <a:r>
              <a:rPr sz="788" b="0" i="0">
                <a:solidFill>
                  <a:srgbClr val="697786"/>
                </a:solidFill>
              </a:rPr>
              <a:t>CREA/SP nº 5069926356 · SSST/MTE nº SP/010724-7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542292-D18B-47D2-9B05-D67088ED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146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2E87DA-0C79-495B-9EE8-6D357253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05150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71626"/>
                </a:solidFill>
              </a:defRPr>
            </a:pPr>
            <a:r>
              <a:rPr sz="1650" b="1" i="0">
                <a:solidFill>
                  <a:srgbClr val="071626"/>
                </a:solidFill>
              </a:rPr>
              <a:t>Luiz César Sannino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DB6480-09E4-4490-BAA5-ED15D65D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671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97786"/>
                </a:solidFill>
              </a:defRPr>
            </a:pPr>
            <a:r>
              <a:rPr sz="788" b="0" i="0">
                <a:solidFill>
                  <a:srgbClr val="697786"/>
                </a:solidFill>
              </a:rPr>
              <a:t>Higienista Ocupacional · Técnico em Segurança do Trabalho</a:t>
            </a:r>
          </a:p>
          <a:p xmlns:a="http://schemas.openxmlformats.org/drawingml/2006/main">
            <a:pPr algn="l">
              <a:defRPr sz="788" b="0" i="0">
                <a:solidFill>
                  <a:srgbClr val="697786"/>
                </a:solidFill>
              </a:defRPr>
            </a:pPr>
            <a:r>
              <a:rPr sz="788" b="0" i="0">
                <a:solidFill>
                  <a:srgbClr val="697786"/>
                </a:solidFill>
              </a:rPr>
              <a:t>CREA/SP nº 5061899709 · SSST/MTE nº 51/07383-6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9C0431-6E6D-45F7-A76C-CFEF36E1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14775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ED3846-851B-44A9-AEB9-B132930E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052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71626"/>
                </a:solidFill>
              </a:defRPr>
            </a:pPr>
            <a:r>
              <a:rPr sz="1650" b="1" i="0">
                <a:solidFill>
                  <a:srgbClr val="071626"/>
                </a:solidFill>
              </a:rPr>
              <a:t>Dr. Alberto Stape Filho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EF6EC9-F5A0-45BF-B854-B209A5B1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6722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97786"/>
                </a:solidFill>
              </a:defRPr>
            </a:pPr>
            <a:r>
              <a:rPr sz="788" b="0" i="0">
                <a:solidFill>
                  <a:srgbClr val="697786"/>
                </a:solidFill>
              </a:rPr>
              <a:t>Médico do Trabalho · CRM/SP 7946 · RQE 68628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AEA474-A076-45D7-B1DB-AA61F6EB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149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D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072179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23E7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3DE259-0F38-455E-802A-58789A05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4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5C0D3"/>
                </a:solidFill>
              </a:defRPr>
            </a:pPr>
            <a:r>
              <a:rPr sz="975" b="1" i="0">
                <a:solidFill>
                  <a:srgbClr val="A5C0D3"/>
                </a:solidFill>
              </a:rPr>
              <a:t>REPUTAÇÃO PÚBLICA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A2ECB-5B2A-41F3-923F-9378B960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6205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</a:defRPr>
            </a:pPr>
            <a:r>
              <a:rPr sz="3075" b="1" i="0">
                <a:solidFill>
                  <a:srgbClr val="FFFFFF"/>
                </a:solidFill>
              </a:rPr>
              <a:t>O que aparece no Google também faz parte da decisão.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78C9B7-0427-4A30-A7E0-867639A8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295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00" b="1" i="0">
                <a:solidFill>
                  <a:srgbClr val="A9C0D8"/>
                </a:solidFill>
              </a:defRPr>
            </a:pPr>
            <a:r>
              <a:rPr sz="7800" b="1" i="0">
                <a:solidFill>
                  <a:srgbClr val="A9C0D8"/>
                </a:solidFill>
              </a:rPr>
              <a:t>4,5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33E78-192B-439D-A021-86478A58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907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8CAD6"/>
                </a:solidFill>
              </a:defRPr>
            </a:pPr>
            <a:r>
              <a:rPr sz="1350" b="0" i="0">
                <a:solidFill>
                  <a:srgbClr val="B8CAD6"/>
                </a:solidFill>
              </a:rPr>
              <a:t>/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34D3A4-9C09-4173-9D9C-CAC061CD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478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6C453"/>
                </a:solidFill>
              </a:defRPr>
            </a:pPr>
            <a:r>
              <a:rPr sz="3600" b="0" i="0">
                <a:solidFill>
                  <a:srgbClr val="F6C453"/>
                </a:solidFill>
              </a:rPr>
              <a:t>★★★★★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d74bc88dbe4f96">
            <a:extLst>
              <a:ext uri="{96DAC541-7B7A-43D3-8B79-37D633B846F1}">
                <asvg:svgBlip xmlns:asvg="http://schemas.microsoft.com/office/drawing/2016/SVG/main" r:embed="R4f29a56a05f344b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" y="28575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3E5DB-8B3E-4BDA-892F-EE2419A4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765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A9C0D8"/>
                </a:solidFill>
              </a:defRPr>
            </a:pPr>
            <a:r>
              <a:rPr sz="975" b="0" i="0">
                <a:solidFill>
                  <a:srgbClr val="A9C0D8"/>
                </a:solidFill>
              </a:rPr>
              <a:t>Ver ficha no Google Maps 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C8558-6003-4155-AE72-B15B44DD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48000"/>
            <a:ext cx="190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0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84DFA5-6845-4977-866B-12FB3C51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9562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“Excelente clínica de exame admissional.”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CD0AAB-1B7D-4A6D-95C6-89263763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4337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“Localização ótimo atendimento :)”</a:t>
            </a:r>
          </a:p>
        </p:txBody>
      </p:sp>
    </p:spTree>
    <p:extLst>
      <p:ext uri="{BB962C8B-B14F-4D97-AF65-F5344CB8AC3E}">
        <p14:creationId xmlns:p14="http://schemas.microsoft.com/office/powerpoint/2010/main" val="7083431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BEA9CD-AB23-459F-90F2-AE37CD2C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51783cb1d244df"/>
          <a:stretch xmlns:a="http://schemas.openxmlformats.org/drawingml/2006/main"/>
        </p:blipFill>
        <p:spPr>
          <a:xfrm xmlns:a="http://schemas.openxmlformats.org/drawingml/2006/main">
            <a:off x="1468438" y="400050"/>
            <a:ext cx="1397000" cy="4191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15868-6FAE-4E96-9E95-87880C1D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4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5C0D3"/>
                </a:solidFill>
              </a:defRPr>
            </a:pPr>
            <a:r>
              <a:rPr sz="975" b="1" i="0">
                <a:solidFill>
                  <a:srgbClr val="A5C0D3"/>
                </a:solidFill>
              </a:rPr>
              <a:t>PRÓXIMO PASSO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70B52-098F-480B-A6C9-49A527D4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8110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FFF"/>
                </a:solidFill>
              </a:defRPr>
            </a:pPr>
            <a:r>
              <a:rPr sz="3000" b="1" i="0">
                <a:solidFill>
                  <a:srgbClr val="FFFFFF"/>
                </a:solidFill>
              </a:rPr>
              <a:t>Vamos transformar sua rotina de SST em um fluxo mais previsível?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1230F1-512E-4E44-8D09-469C65A3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EBBC6"/>
                </a:solidFill>
              </a:defRPr>
            </a:pPr>
            <a:r>
              <a:rPr sz="1275" b="0" i="0">
                <a:solidFill>
                  <a:srgbClr val="AEBBC6"/>
                </a:solidFill>
              </a:rPr>
              <a:t>Conte o cenário da sua empresa. A equipe comercial entende o momento antes de indicar o caminho.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4D4E5A-7B8D-4DAE-B585-1B087AFB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9C0D8"/>
                </a:solidFill>
              </a:defRPr>
            </a:pPr>
            <a:r>
              <a:rPr sz="1200" b="0" i="0">
                <a:solidFill>
                  <a:srgbClr val="A9C0D8"/>
                </a:solidFill>
              </a:rPr>
              <a:t>comercial@sermst.com.br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8D325C-634B-476A-8364-0FDE2433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(11) 3229-7567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F98C50-E272-422A-B5D4-0295FCD5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71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B48D77-260B-4ACE-9495-5C2EFA62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9C0D8"/>
                </a:solidFill>
              </a:defRPr>
            </a:pPr>
            <a:r>
              <a:rPr sz="750" b="1" i="0">
                <a:solidFill>
                  <a:srgbClr val="A9C0D8"/>
                </a:solidFill>
              </a:rPr>
              <a:t>UNIDADE CENTRAL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B363AF-3E00-48C8-A98B-46D358B7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C6D0D8"/>
                </a:solidFill>
              </a:defRPr>
            </a:pPr>
            <a:r>
              <a:rPr sz="1050" b="0" i="0">
                <a:solidFill>
                  <a:srgbClr val="C6D0D8"/>
                </a:solidFill>
              </a:rPr>
              <a:t>Largo do Paissandu, 72 · 3º andar ·</a:t>
            </a:r>
          </a:p>
          <a:p xmlns:a="http://schemas.openxmlformats.org/drawingml/2006/main">
            <a:pPr algn="l">
              <a:defRPr sz="1050" b="0" i="0">
                <a:solidFill>
                  <a:srgbClr val="C6D0D8"/>
                </a:solidFill>
              </a:defRPr>
            </a:pPr>
            <a:r>
              <a:rPr sz="1050" b="0" i="0">
                <a:solidFill>
                  <a:srgbClr val="C6D0D8"/>
                </a:solidFill>
              </a:rPr>
              <a:t>Centro Histórico · São Paulo/SP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B49201-9D4F-4B0A-B922-85AE830D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9C0D8"/>
                </a:solidFill>
              </a:defRPr>
            </a:pPr>
            <a:r>
              <a:rPr sz="750" b="1" i="0">
                <a:solidFill>
                  <a:srgbClr val="A9C0D8"/>
                </a:solidFill>
              </a:rPr>
              <a:t>DADOS INSTITUCIONAIS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81C97E-CDC4-4068-BBFB-1D67BC1C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433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C6D0D8"/>
                </a:solidFill>
              </a:defRPr>
            </a:pPr>
            <a:r>
              <a:rPr sz="1050" b="0" i="0">
                <a:solidFill>
                  <a:srgbClr val="C6D0D8"/>
                </a:solidFill>
              </a:rPr>
              <a:t>CNPJ 28.125.178/0001-88 · CNES 8007144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1B2602-E623-41AB-9E30-CE2A4E15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9C0D8"/>
                </a:solidFill>
              </a:defRPr>
            </a:pPr>
            <a:r>
              <a:rPr sz="750" b="1" i="0">
                <a:solidFill>
                  <a:srgbClr val="A9C0D8"/>
                </a:solidFill>
              </a:rPr>
              <a:t>ONLINE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2BB6FC-BE3B-4C82-A7DC-95F44593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C6D0D8"/>
                </a:solidFill>
              </a:defRPr>
            </a:pPr>
            <a:r>
              <a:rPr sz="1050" b="0" i="0">
                <a:solidFill>
                  <a:srgbClr val="C6D0D8"/>
                </a:solidFill>
              </a:rPr>
              <a:t>sermst.com.br · comercial@sermst.com.br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1F755E-698B-4AAC-B51C-52EBC295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9C0D8"/>
                </a:solidFill>
              </a:defRPr>
            </a:pPr>
            <a:r>
              <a:rPr sz="750" b="1" i="0">
                <a:solidFill>
                  <a:srgbClr val="A9C0D8"/>
                </a:solidFill>
              </a:rPr>
              <a:t>LOCALIZAÇÃO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66E924-F47C-44B3-BB8E-F784A222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720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9C0D8"/>
                </a:solidFill>
              </a:defRPr>
            </a:pPr>
            <a:r>
              <a:rPr sz="1050" b="0" i="0">
                <a:solidFill>
                  <a:srgbClr val="A9C0D8"/>
                </a:solidFill>
              </a:rPr>
              <a:t>Abrir localização 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E0F03E-792C-4841-B515-01FCAE98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912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193A3"/>
                </a:solidFill>
              </a:defRPr>
            </a:pPr>
            <a:r>
              <a:rPr sz="750" b="0" i="0">
                <a:solidFill>
                  <a:srgbClr val="8193A3"/>
                </a:solidFill>
              </a:rPr>
              <a:t>Apresentação comercial · consulta institucional 12/08/2026</a:t>
            </a:r>
          </a:p>
        </p:txBody>
      </p:sp>
    </p:spTree>
    <p:extLst>
      <p:ext uri="{BB962C8B-B14F-4D97-AF65-F5344CB8AC3E}">
        <p14:creationId xmlns:p14="http://schemas.microsoft.com/office/powerpoint/2010/main" val="6414337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2026-08-12T23:33:25.2470000Z</dcterms:created>
  <dcterms:modified xsi:type="dcterms:W3CDTF">2026-08-12T23:33:25.2470000Z</dcterms:modified>
</coreProperties>
</file>